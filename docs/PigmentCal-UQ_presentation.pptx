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A pulse oximeter shows one number and never tells you when that number should not be trusted. My project adds that missing warning. Transition: Why does the number sometimes deserve doubt?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The device shines light through the finger. If the pulse signal is weak or noisy, or the person moves, the reading is less reliable. Reports also suggest reliability can differ with skin pigmentation. The screen shows only one number, so the user cannot see this. I do not claim to fix the number. I measure how far it can be trusted. Do not quote figures or citations you have not checked. Transition: So what does the system 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The system looks at signal quality, perfusion and an objective colour angle called ITA. It builds an uncertainty interval calibrated separately for each group. If a group has too little calibration data it says I do not know instead of guessing. The method is implemented and tested. The gap is that it has not been validated on real participants with blood-gas reference values. ITA is a colour measurement, not race. Transition: Here is how it is built.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 There are two separate layers. The Live Monitor uses a transparent rule engine. The Reliability Check uses the calibrated interval. A research gate stops synthetic or simulated data from ever being shown as research results. Transition: Let me show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 Keep the banner visible and say once: these are simulated readings and the SpO2 shown is an uncalibrated estimate. Live set: A normal -&gt; GREEN; D low perfusion + intermediate noise -&gt; RED may appear and can fluctuate; E Reliability Check with ITA -10 -&gt; ABSTAIN (insufficient Dark x Normal PI calibration: 8 participants, 44 rows, needs 10 and 30). B (AMBER) and C (ABSTAIN) from backup screenshots. Do not demo the phone camera or Web Serial. Say the live rule engine and the calibrated layer are separate. RED does not show a real oximeter is inaccurate or unsafe. Transition: That was a simulation, so here is what is and is not validated.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 s) The software works end to end. The models were trained on a synthetic dataset with a rule I invented, so its numbers prove the pipeline runs, not that it works on people. I have no real participant data yet and I have not tested the physical sensor. CQR and Mondrian are implemented; real empirical validation is pending. GREEN means only that no configured reliability flags were raised. Transition: So the path forward is clear.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The contribution is a framework that tells you when not to trust a reading, built and tested end to end. Real validation is the next phase. Closing line: Can you trust this number? Now the system can tell you when you should not.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63A"/>
        </a:solidFill>
        <a:effectLst/>
      </p:bgPr>
    </p:bg>
    <p:spTree>
      <p:nvGrpSpPr>
        <p:cNvPr id="1" name=""/>
        <p:cNvGrpSpPr/>
        <p:nvPr/>
      </p:nvGrpSpPr>
      <p:grpSpPr/>
      <p:sp>
        <p:nvSpPr>
          <p:cNvPr id="2" name="TextBox 1"/>
          <p:cNvSpPr txBox="1"/>
          <p:nvPr/>
        </p:nvSpPr>
        <p:spPr>
          <a:xfrm>
            <a:off x="822960" y="1188720"/>
            <a:ext cx="10515600" cy="548640"/>
          </a:xfrm>
          <a:prstGeom prst="rect">
            <a:avLst/>
          </a:prstGeom>
          <a:noFill/>
        </p:spPr>
        <p:txBody>
          <a:bodyPr wrap="square" anchor="t">
            <a:spAutoFit/>
          </a:bodyPr>
          <a:lstStyle/>
          <a:p>
            <a:pPr algn="l">
              <a:spcAft>
                <a:spcPts val="800"/>
              </a:spcAft>
            </a:pPr>
            <a:r>
              <a:rPr sz="2200" b="1">
                <a:solidFill>
                  <a:srgbClr val="A5B4FC"/>
                </a:solidFill>
                <a:latin typeface="Segoe UI"/>
              </a:rPr>
              <a:t>PigmentCal-UQ</a:t>
            </a:r>
          </a:p>
        </p:txBody>
      </p:sp>
      <p:sp>
        <p:nvSpPr>
          <p:cNvPr id="3" name="TextBox 2"/>
          <p:cNvSpPr txBox="1"/>
          <p:nvPr/>
        </p:nvSpPr>
        <p:spPr>
          <a:xfrm>
            <a:off x="822960" y="1828800"/>
            <a:ext cx="10789920" cy="1463040"/>
          </a:xfrm>
          <a:prstGeom prst="rect">
            <a:avLst/>
          </a:prstGeom>
          <a:noFill/>
        </p:spPr>
        <p:txBody>
          <a:bodyPr wrap="square" anchor="t">
            <a:spAutoFit/>
          </a:bodyPr>
          <a:lstStyle/>
          <a:p>
            <a:pPr algn="l">
              <a:spcAft>
                <a:spcPts val="800"/>
              </a:spcAft>
            </a:pPr>
            <a:r>
              <a:rPr sz="5600" b="1">
                <a:solidFill>
                  <a:srgbClr val="FFFFFF"/>
                </a:solidFill>
                <a:latin typeface="Segoe UI"/>
              </a:rPr>
              <a:t>CAN YOU TRUST THIS NUMBER?</a:t>
            </a:r>
          </a:p>
        </p:txBody>
      </p:sp>
      <p:sp>
        <p:nvSpPr>
          <p:cNvPr id="4" name="TextBox 3"/>
          <p:cNvSpPr txBox="1"/>
          <p:nvPr/>
        </p:nvSpPr>
        <p:spPr>
          <a:xfrm>
            <a:off x="822960" y="3566160"/>
            <a:ext cx="10515600" cy="731520"/>
          </a:xfrm>
          <a:prstGeom prst="rect">
            <a:avLst/>
          </a:prstGeom>
          <a:noFill/>
        </p:spPr>
        <p:txBody>
          <a:bodyPr wrap="square" anchor="t">
            <a:spAutoFit/>
          </a:bodyPr>
          <a:lstStyle/>
          <a:p>
            <a:pPr algn="l">
              <a:spcAft>
                <a:spcPts val="800"/>
              </a:spcAft>
            </a:pPr>
            <a:r>
              <a:rPr sz="2600" b="0">
                <a:solidFill>
                  <a:srgbClr val="E2E8F0"/>
                </a:solidFill>
                <a:latin typeface="Segoe UI"/>
              </a:rPr>
              <a:t>A reliability layer for pulse-oximeter readings</a:t>
            </a:r>
          </a:p>
        </p:txBody>
      </p:sp>
      <p:sp>
        <p:nvSpPr>
          <p:cNvPr id="5" name="Rounded Rectangle 4"/>
          <p:cNvSpPr/>
          <p:nvPr/>
        </p:nvSpPr>
        <p:spPr>
          <a:xfrm>
            <a:off x="822960" y="4572000"/>
            <a:ext cx="1828800" cy="6400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572000"/>
            <a:ext cx="1828800" cy="640080"/>
          </a:xfrm>
          <a:prstGeom prst="rect">
            <a:avLst/>
          </a:prstGeom>
          <a:noFill/>
        </p:spPr>
        <p:txBody>
          <a:bodyPr wrap="square" anchor="ctr">
            <a:spAutoFit/>
          </a:bodyPr>
          <a:lstStyle/>
          <a:p>
            <a:pPr algn="ctr">
              <a:spcAft>
                <a:spcPts val="800"/>
              </a:spcAft>
            </a:pPr>
            <a:r>
              <a:rPr sz="1800" b="1">
                <a:solidFill>
                  <a:srgbClr val="FFFFFF"/>
                </a:solidFill>
                <a:latin typeface="Segoe UI"/>
              </a:rPr>
              <a:t>GREEN</a:t>
            </a:r>
          </a:p>
        </p:txBody>
      </p:sp>
      <p:sp>
        <p:nvSpPr>
          <p:cNvPr id="7" name="Rounded Rectangle 6"/>
          <p:cNvSpPr/>
          <p:nvPr/>
        </p:nvSpPr>
        <p:spPr>
          <a:xfrm>
            <a:off x="2834640" y="4572000"/>
            <a:ext cx="1828800" cy="6400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34640" y="4572000"/>
            <a:ext cx="1828800" cy="640080"/>
          </a:xfrm>
          <a:prstGeom prst="rect">
            <a:avLst/>
          </a:prstGeom>
          <a:noFill/>
        </p:spPr>
        <p:txBody>
          <a:bodyPr wrap="square" anchor="ctr">
            <a:spAutoFit/>
          </a:bodyPr>
          <a:lstStyle/>
          <a:p>
            <a:pPr algn="ctr">
              <a:spcAft>
                <a:spcPts val="800"/>
              </a:spcAft>
            </a:pPr>
            <a:r>
              <a:rPr sz="1800" b="1">
                <a:solidFill>
                  <a:srgbClr val="FFFFFF"/>
                </a:solidFill>
                <a:latin typeface="Segoe UI"/>
              </a:rPr>
              <a:t>AMBER</a:t>
            </a:r>
          </a:p>
        </p:txBody>
      </p:sp>
      <p:sp>
        <p:nvSpPr>
          <p:cNvPr id="9" name="Rounded Rectangle 8"/>
          <p:cNvSpPr/>
          <p:nvPr/>
        </p:nvSpPr>
        <p:spPr>
          <a:xfrm>
            <a:off x="4846320" y="4572000"/>
            <a:ext cx="1828800" cy="64008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4572000"/>
            <a:ext cx="1828800" cy="640080"/>
          </a:xfrm>
          <a:prstGeom prst="rect">
            <a:avLst/>
          </a:prstGeom>
          <a:noFill/>
        </p:spPr>
        <p:txBody>
          <a:bodyPr wrap="square" anchor="ctr">
            <a:spAutoFit/>
          </a:bodyPr>
          <a:lstStyle/>
          <a:p>
            <a:pPr algn="ctr">
              <a:spcAft>
                <a:spcPts val="800"/>
              </a:spcAft>
            </a:pPr>
            <a:r>
              <a:rPr sz="1800" b="1">
                <a:solidFill>
                  <a:srgbClr val="FFFFFF"/>
                </a:solidFill>
                <a:latin typeface="Segoe UI"/>
              </a:rPr>
              <a:t>RED</a:t>
            </a:r>
          </a:p>
        </p:txBody>
      </p:sp>
      <p:sp>
        <p:nvSpPr>
          <p:cNvPr id="11" name="Rounded Rectangle 10"/>
          <p:cNvSpPr/>
          <p:nvPr/>
        </p:nvSpPr>
        <p:spPr>
          <a:xfrm>
            <a:off x="6858000" y="4572000"/>
            <a:ext cx="1828800" cy="640080"/>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4572000"/>
            <a:ext cx="1828800" cy="640080"/>
          </a:xfrm>
          <a:prstGeom prst="rect">
            <a:avLst/>
          </a:prstGeom>
          <a:noFill/>
        </p:spPr>
        <p:txBody>
          <a:bodyPr wrap="square" anchor="ctr">
            <a:spAutoFit/>
          </a:bodyPr>
          <a:lstStyle/>
          <a:p>
            <a:pPr algn="ctr">
              <a:spcAft>
                <a:spcPts val="800"/>
              </a:spcAft>
            </a:pPr>
            <a:r>
              <a:rPr sz="1800" b="1">
                <a:solidFill>
                  <a:srgbClr val="FFFFFF"/>
                </a:solidFill>
                <a:latin typeface="Segoe UI"/>
              </a:rPr>
              <a:t>ABSTAIN</a:t>
            </a:r>
          </a:p>
        </p:txBody>
      </p:sp>
      <p:sp>
        <p:nvSpPr>
          <p:cNvPr id="13" name="TextBox 12"/>
          <p:cNvSpPr txBox="1"/>
          <p:nvPr/>
        </p:nvSpPr>
        <p:spPr>
          <a:xfrm>
            <a:off x="822960" y="5943600"/>
            <a:ext cx="10515600" cy="457200"/>
          </a:xfrm>
          <a:prstGeom prst="rect">
            <a:avLst/>
          </a:prstGeom>
          <a:noFill/>
        </p:spPr>
        <p:txBody>
          <a:bodyPr wrap="square" anchor="t">
            <a:spAutoFit/>
          </a:bodyPr>
          <a:lstStyle/>
          <a:p>
            <a:pPr algn="l">
              <a:spcAft>
                <a:spcPts val="800"/>
              </a:spcAft>
            </a:pPr>
            <a:r>
              <a:rPr sz="1400" b="0">
                <a:solidFill>
                  <a:srgbClr val="A5B4FC"/>
                </a:solidFill>
                <a:latin typeface="Segoe UI"/>
              </a:rPr>
              <a:t>Independent project · Pragatheesvar  ·  Not a diagnostic device. Not clinically validated.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515600" cy="731520"/>
          </a:xfrm>
          <a:prstGeom prst="rect">
            <a:avLst/>
          </a:prstGeom>
          <a:noFill/>
        </p:spPr>
        <p:txBody>
          <a:bodyPr wrap="square" anchor="t">
            <a:spAutoFit/>
          </a:bodyPr>
          <a:lstStyle/>
          <a:p>
            <a:pPr algn="l">
              <a:spcAft>
                <a:spcPts val="800"/>
              </a:spcAft>
            </a:pPr>
            <a:r>
              <a:rPr sz="3400" b="1">
                <a:solidFill>
                  <a:srgbClr val="0B163A"/>
                </a:solidFill>
                <a:latin typeface="Segoe UI"/>
              </a:rPr>
              <a:t>Problem Statement</a:t>
            </a:r>
          </a:p>
        </p:txBody>
      </p:sp>
      <p:sp>
        <p:nvSpPr>
          <p:cNvPr id="4" name="TextBox 3"/>
          <p:cNvSpPr txBox="1"/>
          <p:nvPr/>
        </p:nvSpPr>
        <p:spPr>
          <a:xfrm>
            <a:off x="640080" y="1005840"/>
            <a:ext cx="10515600" cy="457200"/>
          </a:xfrm>
          <a:prstGeom prst="rect">
            <a:avLst/>
          </a:prstGeom>
          <a:noFill/>
        </p:spPr>
        <p:txBody>
          <a:bodyPr wrap="square" anchor="t">
            <a:spAutoFit/>
          </a:bodyPr>
          <a:lstStyle/>
          <a:p>
            <a:pPr algn="l">
              <a:spcAft>
                <a:spcPts val="800"/>
              </a:spcAft>
            </a:pPr>
            <a:r>
              <a:rPr sz="1600" b="0">
                <a:solidFill>
                  <a:srgbClr val="64748B"/>
                </a:solidFill>
                <a:latin typeface="Segoe UI"/>
              </a:rPr>
              <a:t>One number. No warning about its reliability.</a:t>
            </a:r>
          </a:p>
        </p:txBody>
      </p:sp>
      <p:sp>
        <p:nvSpPr>
          <p:cNvPr id="5" name="TextBox 4"/>
          <p:cNvSpPr txBox="1"/>
          <p:nvPr/>
        </p:nvSpPr>
        <p:spPr>
          <a:xfrm>
            <a:off x="640080" y="6400800"/>
            <a:ext cx="10972800" cy="365760"/>
          </a:xfrm>
          <a:prstGeom prst="rect">
            <a:avLst/>
          </a:prstGeom>
          <a:noFill/>
        </p:spPr>
        <p:txBody>
          <a:bodyPr wrap="square" anchor="t">
            <a:spAutoFit/>
          </a:bodyPr>
          <a:lstStyle/>
          <a:p>
            <a:pPr algn="l">
              <a:spcAft>
                <a:spcPts val="800"/>
              </a:spcAft>
            </a:pPr>
            <a:r>
              <a:rPr sz="1100" b="0">
                <a:solidFill>
                  <a:srgbClr val="64748B"/>
                </a:solidFill>
                <a:latin typeface="Segoe UI"/>
              </a:rPr>
              <a:t>Not a diagnostic device. Not clinically validated.  ·  Data shown is synthetic / simulated.</a:t>
            </a:r>
          </a:p>
        </p:txBody>
      </p:sp>
      <p:sp>
        <p:nvSpPr>
          <p:cNvPr id="6" name="Oval 5"/>
          <p:cNvSpPr/>
          <p:nvPr/>
        </p:nvSpPr>
        <p:spPr>
          <a:xfrm>
            <a:off x="822960" y="1847088"/>
            <a:ext cx="146304" cy="14630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691639"/>
            <a:ext cx="10149840" cy="640080"/>
          </a:xfrm>
          <a:prstGeom prst="rect">
            <a:avLst/>
          </a:prstGeom>
          <a:noFill/>
        </p:spPr>
        <p:txBody>
          <a:bodyPr wrap="square" anchor="t">
            <a:spAutoFit/>
          </a:bodyPr>
          <a:lstStyle/>
          <a:p>
            <a:pPr algn="l">
              <a:spcAft>
                <a:spcPts val="800"/>
              </a:spcAft>
            </a:pPr>
            <a:r>
              <a:rPr sz="2400" b="0">
                <a:solidFill>
                  <a:srgbClr val="475569"/>
                </a:solidFill>
                <a:latin typeface="Segoe UI"/>
              </a:rPr>
              <a:t>A single SpO₂ number hides how reliable it is</a:t>
            </a:r>
          </a:p>
        </p:txBody>
      </p:sp>
      <p:sp>
        <p:nvSpPr>
          <p:cNvPr id="8" name="Oval 7"/>
          <p:cNvSpPr/>
          <p:nvPr/>
        </p:nvSpPr>
        <p:spPr>
          <a:xfrm>
            <a:off x="822960" y="2560320"/>
            <a:ext cx="146304" cy="14630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404872"/>
            <a:ext cx="10149840" cy="640080"/>
          </a:xfrm>
          <a:prstGeom prst="rect">
            <a:avLst/>
          </a:prstGeom>
          <a:noFill/>
        </p:spPr>
        <p:txBody>
          <a:bodyPr wrap="square" anchor="t">
            <a:spAutoFit/>
          </a:bodyPr>
          <a:lstStyle/>
          <a:p>
            <a:pPr algn="l">
              <a:spcAft>
                <a:spcPts val="800"/>
              </a:spcAft>
            </a:pPr>
            <a:r>
              <a:rPr sz="2400" b="0">
                <a:solidFill>
                  <a:srgbClr val="475569"/>
                </a:solidFill>
                <a:latin typeface="Segoe UI"/>
              </a:rPr>
              <a:t>Weak pulse, noise and movement reduce reliability</a:t>
            </a:r>
          </a:p>
        </p:txBody>
      </p:sp>
      <p:sp>
        <p:nvSpPr>
          <p:cNvPr id="10" name="Oval 9"/>
          <p:cNvSpPr/>
          <p:nvPr/>
        </p:nvSpPr>
        <p:spPr>
          <a:xfrm>
            <a:off x="822960" y="3273552"/>
            <a:ext cx="146304" cy="14630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3118104"/>
            <a:ext cx="10149840" cy="640080"/>
          </a:xfrm>
          <a:prstGeom prst="rect">
            <a:avLst/>
          </a:prstGeom>
          <a:noFill/>
        </p:spPr>
        <p:txBody>
          <a:bodyPr wrap="square" anchor="t">
            <a:spAutoFit/>
          </a:bodyPr>
          <a:lstStyle/>
          <a:p>
            <a:pPr algn="l">
              <a:spcAft>
                <a:spcPts val="800"/>
              </a:spcAft>
            </a:pPr>
            <a:r>
              <a:rPr sz="2400" b="0">
                <a:solidFill>
                  <a:srgbClr val="475569"/>
                </a:solidFill>
                <a:latin typeface="Segoe UI"/>
              </a:rPr>
              <a:t>Reliability may differ across pigmentation groups</a:t>
            </a:r>
          </a:p>
        </p:txBody>
      </p:sp>
      <p:sp>
        <p:nvSpPr>
          <p:cNvPr id="12" name="Oval 11"/>
          <p:cNvSpPr/>
          <p:nvPr/>
        </p:nvSpPr>
        <p:spPr>
          <a:xfrm>
            <a:off x="822960" y="3986784"/>
            <a:ext cx="146304" cy="14630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3831336"/>
            <a:ext cx="10149840" cy="640080"/>
          </a:xfrm>
          <a:prstGeom prst="rect">
            <a:avLst/>
          </a:prstGeom>
          <a:noFill/>
        </p:spPr>
        <p:txBody>
          <a:bodyPr wrap="square" anchor="t">
            <a:spAutoFit/>
          </a:bodyPr>
          <a:lstStyle/>
          <a:p>
            <a:pPr algn="l">
              <a:spcAft>
                <a:spcPts val="800"/>
              </a:spcAft>
            </a:pPr>
            <a:r>
              <a:rPr sz="2400" b="0">
                <a:solidFill>
                  <a:srgbClr val="475569"/>
                </a:solidFill>
                <a:latin typeface="Segoe UI"/>
              </a:rPr>
              <a:t>Goal: know when NOT to trust the number</a:t>
            </a:r>
          </a:p>
        </p:txBody>
      </p:sp>
      <p:sp>
        <p:nvSpPr>
          <p:cNvPr id="14" name="Rounded Rectangle 13"/>
          <p:cNvSpPr/>
          <p:nvPr/>
        </p:nvSpPr>
        <p:spPr>
          <a:xfrm>
            <a:off x="8412480" y="4480560"/>
            <a:ext cx="3291840" cy="1371600"/>
          </a:xfrm>
          <a:prstGeom prst="roundRect">
            <a:avLst/>
          </a:prstGeom>
          <a:solidFill>
            <a:srgbClr val="F1F5F9"/>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4480560"/>
            <a:ext cx="3291840" cy="1371600"/>
          </a:xfrm>
          <a:prstGeom prst="rect">
            <a:avLst/>
          </a:prstGeom>
          <a:noFill/>
        </p:spPr>
        <p:txBody>
          <a:bodyPr wrap="square" anchor="ctr">
            <a:spAutoFit/>
          </a:bodyPr>
          <a:lstStyle/>
          <a:p>
            <a:pPr algn="ctr">
              <a:spcAft>
                <a:spcPts val="800"/>
              </a:spcAft>
            </a:pPr>
            <a:r>
              <a:rPr sz="2200" b="1">
                <a:solidFill>
                  <a:srgbClr val="4F46E5"/>
                </a:solidFill>
                <a:latin typeface="Segoe UI"/>
              </a:rPr>
              <a:t>finger → light → “98 %”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515600" cy="731520"/>
          </a:xfrm>
          <a:prstGeom prst="rect">
            <a:avLst/>
          </a:prstGeom>
          <a:noFill/>
        </p:spPr>
        <p:txBody>
          <a:bodyPr wrap="square" anchor="t">
            <a:spAutoFit/>
          </a:bodyPr>
          <a:lstStyle/>
          <a:p>
            <a:pPr algn="l">
              <a:spcAft>
                <a:spcPts val="800"/>
              </a:spcAft>
            </a:pPr>
            <a:r>
              <a:rPr sz="3400" b="1">
                <a:solidFill>
                  <a:srgbClr val="0B163A"/>
                </a:solidFill>
                <a:latin typeface="Segoe UI"/>
              </a:rPr>
              <a:t>Proposed Solution, Innovation and Research Gap</a:t>
            </a:r>
          </a:p>
        </p:txBody>
      </p:sp>
      <p:sp>
        <p:nvSpPr>
          <p:cNvPr id="4" name="TextBox 3"/>
          <p:cNvSpPr txBox="1"/>
          <p:nvPr/>
        </p:nvSpPr>
        <p:spPr>
          <a:xfrm>
            <a:off x="640080" y="6400800"/>
            <a:ext cx="10972800" cy="365760"/>
          </a:xfrm>
          <a:prstGeom prst="rect">
            <a:avLst/>
          </a:prstGeom>
          <a:noFill/>
        </p:spPr>
        <p:txBody>
          <a:bodyPr wrap="square" anchor="t">
            <a:spAutoFit/>
          </a:bodyPr>
          <a:lstStyle/>
          <a:p>
            <a:pPr algn="l">
              <a:spcAft>
                <a:spcPts val="800"/>
              </a:spcAft>
            </a:pPr>
            <a:r>
              <a:rPr sz="1100" b="0">
                <a:solidFill>
                  <a:srgbClr val="64748B"/>
                </a:solidFill>
                <a:latin typeface="Segoe UI"/>
              </a:rPr>
              <a:t>Not a diagnostic device. Not clinically validated.  ·  Data shown is synthetic / simulated.</a:t>
            </a:r>
          </a:p>
        </p:txBody>
      </p:sp>
      <p:sp>
        <p:nvSpPr>
          <p:cNvPr id="5" name="Rounded Rectangle 4"/>
          <p:cNvSpPr/>
          <p:nvPr/>
        </p:nvSpPr>
        <p:spPr>
          <a:xfrm>
            <a:off x="731520" y="1463040"/>
            <a:ext cx="3474720" cy="2468880"/>
          </a:xfrm>
          <a:prstGeom prst="roundRect">
            <a:avLst/>
          </a:prstGeom>
          <a:solidFill>
            <a:srgbClr val="F1F5F9"/>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3108960" cy="548640"/>
          </a:xfrm>
          <a:prstGeom prst="rect">
            <a:avLst/>
          </a:prstGeom>
          <a:noFill/>
        </p:spPr>
        <p:txBody>
          <a:bodyPr wrap="square" anchor="t">
            <a:spAutoFit/>
          </a:bodyPr>
          <a:lstStyle/>
          <a:p>
            <a:pPr algn="l">
              <a:spcAft>
                <a:spcPts val="800"/>
              </a:spcAft>
            </a:pPr>
            <a:r>
              <a:rPr sz="2600" b="1">
                <a:solidFill>
                  <a:srgbClr val="4F46E5"/>
                </a:solidFill>
                <a:latin typeface="Segoe UI"/>
              </a:rPr>
              <a:t>Measure</a:t>
            </a:r>
          </a:p>
        </p:txBody>
      </p:sp>
      <p:sp>
        <p:nvSpPr>
          <p:cNvPr id="7" name="TextBox 6"/>
          <p:cNvSpPr txBox="1"/>
          <p:nvPr/>
        </p:nvSpPr>
        <p:spPr>
          <a:xfrm>
            <a:off x="914400" y="2194560"/>
            <a:ext cx="3108960" cy="1645920"/>
          </a:xfrm>
          <a:prstGeom prst="rect">
            <a:avLst/>
          </a:prstGeom>
          <a:noFill/>
        </p:spPr>
        <p:txBody>
          <a:bodyPr wrap="square" anchor="t">
            <a:spAutoFit/>
          </a:bodyPr>
          <a:lstStyle/>
          <a:p>
            <a:pPr algn="l">
              <a:spcAft>
                <a:spcPts val="800"/>
              </a:spcAft>
            </a:pPr>
            <a:r>
              <a:rPr sz="1900" b="0">
                <a:solidFill>
                  <a:srgbClr val="475569"/>
                </a:solidFill>
                <a:latin typeface="Segoe UI"/>
              </a:rPr>
              <a:t>Signal quality (SQI)</a:t>
            </a:r>
          </a:p>
          <a:p>
            <a:pPr algn="l">
              <a:spcAft>
                <a:spcPts val="800"/>
              </a:spcAft>
            </a:pPr>
            <a:r>
              <a:rPr sz="1900" b="0">
                <a:solidFill>
                  <a:srgbClr val="475569"/>
                </a:solidFill>
                <a:latin typeface="Segoe UI"/>
              </a:rPr>
              <a:t>Perfusion (PI)</a:t>
            </a:r>
          </a:p>
          <a:p>
            <a:pPr algn="l">
              <a:spcAft>
                <a:spcPts val="800"/>
              </a:spcAft>
            </a:pPr>
            <a:r>
              <a:rPr sz="1900" b="0">
                <a:solidFill>
                  <a:srgbClr val="475569"/>
                </a:solidFill>
                <a:latin typeface="Segoe UI"/>
              </a:rPr>
              <a:t>Objective pigmentation (ITA)</a:t>
            </a:r>
          </a:p>
        </p:txBody>
      </p:sp>
      <p:sp>
        <p:nvSpPr>
          <p:cNvPr id="8" name="Rounded Rectangle 7"/>
          <p:cNvSpPr/>
          <p:nvPr/>
        </p:nvSpPr>
        <p:spPr>
          <a:xfrm>
            <a:off x="4480559" y="1463040"/>
            <a:ext cx="3474720" cy="2468880"/>
          </a:xfrm>
          <a:prstGeom prst="roundRect">
            <a:avLst/>
          </a:prstGeom>
          <a:solidFill>
            <a:srgbClr val="F1F5F9"/>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554480"/>
            <a:ext cx="3108960" cy="548640"/>
          </a:xfrm>
          <a:prstGeom prst="rect">
            <a:avLst/>
          </a:prstGeom>
          <a:noFill/>
        </p:spPr>
        <p:txBody>
          <a:bodyPr wrap="square" anchor="t">
            <a:spAutoFit/>
          </a:bodyPr>
          <a:lstStyle/>
          <a:p>
            <a:pPr algn="l">
              <a:spcAft>
                <a:spcPts val="800"/>
              </a:spcAft>
            </a:pPr>
            <a:r>
              <a:rPr sz="2600" b="1">
                <a:solidFill>
                  <a:srgbClr val="4F46E5"/>
                </a:solidFill>
                <a:latin typeface="Segoe UI"/>
              </a:rPr>
              <a:t>Calibrate</a:t>
            </a:r>
          </a:p>
        </p:txBody>
      </p:sp>
      <p:sp>
        <p:nvSpPr>
          <p:cNvPr id="10" name="TextBox 9"/>
          <p:cNvSpPr txBox="1"/>
          <p:nvPr/>
        </p:nvSpPr>
        <p:spPr>
          <a:xfrm>
            <a:off x="4663440" y="2194560"/>
            <a:ext cx="3108960" cy="1645920"/>
          </a:xfrm>
          <a:prstGeom prst="rect">
            <a:avLst/>
          </a:prstGeom>
          <a:noFill/>
        </p:spPr>
        <p:txBody>
          <a:bodyPr wrap="square" anchor="t">
            <a:spAutoFit/>
          </a:bodyPr>
          <a:lstStyle/>
          <a:p>
            <a:pPr algn="l">
              <a:spcAft>
                <a:spcPts val="800"/>
              </a:spcAft>
            </a:pPr>
            <a:r>
              <a:rPr sz="1900" b="0">
                <a:solidFill>
                  <a:srgbClr val="475569"/>
                </a:solidFill>
                <a:latin typeface="Segoe UI"/>
              </a:rPr>
              <a:t>Conformal interval (CQR)</a:t>
            </a:r>
          </a:p>
          <a:p>
            <a:pPr algn="l">
              <a:spcAft>
                <a:spcPts val="800"/>
              </a:spcAft>
            </a:pPr>
            <a:r>
              <a:rPr sz="1900" b="0">
                <a:solidFill>
                  <a:srgbClr val="475569"/>
                </a:solidFill>
                <a:latin typeface="Segoe UI"/>
              </a:rPr>
              <a:t>per ITA × PI group (Mondrian)</a:t>
            </a:r>
          </a:p>
        </p:txBody>
      </p:sp>
      <p:sp>
        <p:nvSpPr>
          <p:cNvPr id="11" name="Rounded Rectangle 10"/>
          <p:cNvSpPr/>
          <p:nvPr/>
        </p:nvSpPr>
        <p:spPr>
          <a:xfrm>
            <a:off x="8229600" y="1463040"/>
            <a:ext cx="3474720" cy="2468880"/>
          </a:xfrm>
          <a:prstGeom prst="roundRect">
            <a:avLst/>
          </a:prstGeom>
          <a:solidFill>
            <a:srgbClr val="F1F5F9"/>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554480"/>
            <a:ext cx="3108960" cy="548640"/>
          </a:xfrm>
          <a:prstGeom prst="rect">
            <a:avLst/>
          </a:prstGeom>
          <a:noFill/>
        </p:spPr>
        <p:txBody>
          <a:bodyPr wrap="square" anchor="t">
            <a:spAutoFit/>
          </a:bodyPr>
          <a:lstStyle/>
          <a:p>
            <a:pPr algn="l">
              <a:spcAft>
                <a:spcPts val="800"/>
              </a:spcAft>
            </a:pPr>
            <a:r>
              <a:rPr sz="2600" b="1">
                <a:solidFill>
                  <a:srgbClr val="4F46E5"/>
                </a:solidFill>
                <a:latin typeface="Segoe UI"/>
              </a:rPr>
              <a:t>Decide</a:t>
            </a:r>
          </a:p>
        </p:txBody>
      </p:sp>
      <p:sp>
        <p:nvSpPr>
          <p:cNvPr id="13" name="TextBox 12"/>
          <p:cNvSpPr txBox="1"/>
          <p:nvPr/>
        </p:nvSpPr>
        <p:spPr>
          <a:xfrm>
            <a:off x="8412480" y="2194560"/>
            <a:ext cx="3108960" cy="1645920"/>
          </a:xfrm>
          <a:prstGeom prst="rect">
            <a:avLst/>
          </a:prstGeom>
          <a:noFill/>
        </p:spPr>
        <p:txBody>
          <a:bodyPr wrap="square" anchor="t">
            <a:spAutoFit/>
          </a:bodyPr>
          <a:lstStyle/>
          <a:p>
            <a:pPr algn="l">
              <a:spcAft>
                <a:spcPts val="800"/>
              </a:spcAft>
            </a:pPr>
            <a:r>
              <a:rPr sz="1900" b="0">
                <a:solidFill>
                  <a:srgbClr val="475569"/>
                </a:solidFill>
                <a:latin typeface="Segoe UI"/>
              </a:rPr>
              <a:t>GREEN / AMBER / RED</a:t>
            </a:r>
          </a:p>
          <a:p>
            <a:pPr algn="l">
              <a:spcAft>
                <a:spcPts val="800"/>
              </a:spcAft>
            </a:pPr>
            <a:r>
              <a:rPr sz="1900" b="0">
                <a:solidFill>
                  <a:srgbClr val="475569"/>
                </a:solidFill>
                <a:latin typeface="Segoe UI"/>
              </a:rPr>
              <a:t>or ABSTAIN when evidence is thin</a:t>
            </a:r>
          </a:p>
        </p:txBody>
      </p:sp>
      <p:sp>
        <p:nvSpPr>
          <p:cNvPr id="14" name="Rounded Rectangle 13"/>
          <p:cNvSpPr/>
          <p:nvPr/>
        </p:nvSpPr>
        <p:spPr>
          <a:xfrm>
            <a:off x="731520" y="4297680"/>
            <a:ext cx="11064240" cy="155448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343400"/>
            <a:ext cx="10698480" cy="1463040"/>
          </a:xfrm>
          <a:prstGeom prst="rect">
            <a:avLst/>
          </a:prstGeom>
          <a:noFill/>
        </p:spPr>
        <p:txBody>
          <a:bodyPr wrap="square" anchor="t">
            <a:spAutoFit/>
          </a:bodyPr>
          <a:lstStyle/>
          <a:p>
            <a:pPr algn="l">
              <a:spcAft>
                <a:spcPts val="800"/>
              </a:spcAft>
            </a:pPr>
            <a:r>
              <a:rPr sz="2000" b="0">
                <a:solidFill>
                  <a:srgbClr val="78350F"/>
                </a:solidFill>
                <a:latin typeface="Segoe UI"/>
              </a:rPr>
              <a:t>Research gap</a:t>
            </a:r>
          </a:p>
          <a:p>
            <a:pPr algn="l">
              <a:spcAft>
                <a:spcPts val="800"/>
              </a:spcAft>
            </a:pPr>
            <a:r>
              <a:rPr sz="2000" b="0">
                <a:solidFill>
                  <a:srgbClr val="78350F"/>
                </a:solidFill>
                <a:latin typeface="Segoe UI"/>
              </a:rPr>
              <a:t>Implemented and tested in software. Coverage on real participants with arterial reference values is NOT yet shown.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515600" cy="731520"/>
          </a:xfrm>
          <a:prstGeom prst="rect">
            <a:avLst/>
          </a:prstGeom>
          <a:noFill/>
        </p:spPr>
        <p:txBody>
          <a:bodyPr wrap="square" anchor="t">
            <a:spAutoFit/>
          </a:bodyPr>
          <a:lstStyle/>
          <a:p>
            <a:pPr algn="l">
              <a:spcAft>
                <a:spcPts val="800"/>
              </a:spcAft>
            </a:pPr>
            <a:r>
              <a:rPr sz="3400" b="1">
                <a:solidFill>
                  <a:srgbClr val="0B163A"/>
                </a:solidFill>
                <a:latin typeface="Segoe UI"/>
              </a:rPr>
              <a:t>System Architecture and Technology Stack</a:t>
            </a:r>
          </a:p>
        </p:txBody>
      </p:sp>
      <p:sp>
        <p:nvSpPr>
          <p:cNvPr id="4" name="TextBox 3"/>
          <p:cNvSpPr txBox="1"/>
          <p:nvPr/>
        </p:nvSpPr>
        <p:spPr>
          <a:xfrm>
            <a:off x="640080" y="6400800"/>
            <a:ext cx="10972800" cy="365760"/>
          </a:xfrm>
          <a:prstGeom prst="rect">
            <a:avLst/>
          </a:prstGeom>
          <a:noFill/>
        </p:spPr>
        <p:txBody>
          <a:bodyPr wrap="square" anchor="t">
            <a:spAutoFit/>
          </a:bodyPr>
          <a:lstStyle/>
          <a:p>
            <a:pPr algn="l">
              <a:spcAft>
                <a:spcPts val="800"/>
              </a:spcAft>
            </a:pPr>
            <a:r>
              <a:rPr sz="1100" b="0">
                <a:solidFill>
                  <a:srgbClr val="64748B"/>
                </a:solidFill>
                <a:latin typeface="Segoe UI"/>
              </a:rPr>
              <a:t>Not a diagnostic device. Not clinically validated.  ·  Data shown is synthetic / simulated.</a:t>
            </a:r>
          </a:p>
        </p:txBody>
      </p:sp>
      <p:sp>
        <p:nvSpPr>
          <p:cNvPr id="5" name="Rounded Rectangle 4"/>
          <p:cNvSpPr/>
          <p:nvPr/>
        </p:nvSpPr>
        <p:spPr>
          <a:xfrm>
            <a:off x="640080" y="1554480"/>
            <a:ext cx="2377440" cy="1097280"/>
          </a:xfrm>
          <a:prstGeom prst="roundRect">
            <a:avLst/>
          </a:prstGeom>
          <a:solidFill>
            <a:srgbClr val="F1F5F9"/>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377440" cy="1097280"/>
          </a:xfrm>
          <a:prstGeom prst="rect">
            <a:avLst/>
          </a:prstGeom>
          <a:noFill/>
        </p:spPr>
        <p:txBody>
          <a:bodyPr wrap="square" anchor="ctr">
            <a:spAutoFit/>
          </a:bodyPr>
          <a:lstStyle/>
          <a:p>
            <a:pPr algn="ctr">
              <a:spcAft>
                <a:spcPts val="800"/>
              </a:spcAft>
            </a:pPr>
            <a:r>
              <a:rPr sz="1600" b="1">
                <a:solidFill>
                  <a:srgbClr val="0B163A"/>
                </a:solidFill>
                <a:latin typeface="Segoe UI"/>
              </a:rPr>
              <a:t>ESP32 + MAX30102</a:t>
            </a:r>
          </a:p>
          <a:p>
            <a:pPr algn="ctr">
              <a:spcAft>
                <a:spcPts val="800"/>
              </a:spcAft>
            </a:pPr>
            <a:r>
              <a:rPr sz="1600" b="1">
                <a:solidFill>
                  <a:srgbClr val="0B163A"/>
                </a:solidFill>
                <a:latin typeface="Segoe UI"/>
              </a:rPr>
              <a:t>(or virtual simulation)</a:t>
            </a:r>
          </a:p>
        </p:txBody>
      </p:sp>
      <p:sp>
        <p:nvSpPr>
          <p:cNvPr id="7" name="TextBox 6"/>
          <p:cNvSpPr txBox="1"/>
          <p:nvPr/>
        </p:nvSpPr>
        <p:spPr>
          <a:xfrm>
            <a:off x="3017520" y="1737360"/>
            <a:ext cx="457200" cy="731520"/>
          </a:xfrm>
          <a:prstGeom prst="rect">
            <a:avLst/>
          </a:prstGeom>
          <a:noFill/>
        </p:spPr>
        <p:txBody>
          <a:bodyPr wrap="square" anchor="t">
            <a:spAutoFit/>
          </a:bodyPr>
          <a:lstStyle/>
          <a:p>
            <a:pPr algn="ctr">
              <a:spcAft>
                <a:spcPts val="800"/>
              </a:spcAft>
            </a:pPr>
            <a:r>
              <a:rPr sz="3000" b="1">
                <a:solidFill>
                  <a:srgbClr val="4F46E5"/>
                </a:solidFill>
                <a:latin typeface="Segoe UI"/>
              </a:rPr>
              <a:t>→</a:t>
            </a:r>
          </a:p>
        </p:txBody>
      </p:sp>
      <p:sp>
        <p:nvSpPr>
          <p:cNvPr id="8" name="Rounded Rectangle 7"/>
          <p:cNvSpPr/>
          <p:nvPr/>
        </p:nvSpPr>
        <p:spPr>
          <a:xfrm>
            <a:off x="3383280" y="1554480"/>
            <a:ext cx="2377440" cy="1097280"/>
          </a:xfrm>
          <a:prstGeom prst="roundRect">
            <a:avLst/>
          </a:prstGeom>
          <a:solidFill>
            <a:srgbClr val="F1F5F9"/>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554480"/>
            <a:ext cx="2377440" cy="1097280"/>
          </a:xfrm>
          <a:prstGeom prst="rect">
            <a:avLst/>
          </a:prstGeom>
          <a:noFill/>
        </p:spPr>
        <p:txBody>
          <a:bodyPr wrap="square" anchor="ctr">
            <a:spAutoFit/>
          </a:bodyPr>
          <a:lstStyle/>
          <a:p>
            <a:pPr algn="ctr">
              <a:spcAft>
                <a:spcPts val="800"/>
              </a:spcAft>
            </a:pPr>
            <a:r>
              <a:rPr sz="1600" b="1">
                <a:solidFill>
                  <a:srgbClr val="0B163A"/>
                </a:solidFill>
                <a:latin typeface="Segoe UI"/>
              </a:rPr>
              <a:t>Browser</a:t>
            </a:r>
          </a:p>
          <a:p>
            <a:pPr algn="ctr">
              <a:spcAft>
                <a:spcPts val="800"/>
              </a:spcAft>
            </a:pPr>
            <a:r>
              <a:rPr sz="1600" b="1">
                <a:solidFill>
                  <a:srgbClr val="0B163A"/>
                </a:solidFill>
                <a:latin typeface="Segoe UI"/>
              </a:rPr>
              <a:t>React + TypeScript</a:t>
            </a:r>
          </a:p>
        </p:txBody>
      </p:sp>
      <p:sp>
        <p:nvSpPr>
          <p:cNvPr id="10" name="TextBox 9"/>
          <p:cNvSpPr txBox="1"/>
          <p:nvPr/>
        </p:nvSpPr>
        <p:spPr>
          <a:xfrm>
            <a:off x="5760720" y="1737360"/>
            <a:ext cx="457200" cy="731520"/>
          </a:xfrm>
          <a:prstGeom prst="rect">
            <a:avLst/>
          </a:prstGeom>
          <a:noFill/>
        </p:spPr>
        <p:txBody>
          <a:bodyPr wrap="square" anchor="t">
            <a:spAutoFit/>
          </a:bodyPr>
          <a:lstStyle/>
          <a:p>
            <a:pPr algn="ctr">
              <a:spcAft>
                <a:spcPts val="800"/>
              </a:spcAft>
            </a:pPr>
            <a:r>
              <a:rPr sz="3000" b="1">
                <a:solidFill>
                  <a:srgbClr val="4F46E5"/>
                </a:solidFill>
                <a:latin typeface="Segoe UI"/>
              </a:rPr>
              <a:t>→</a:t>
            </a:r>
          </a:p>
        </p:txBody>
      </p:sp>
      <p:sp>
        <p:nvSpPr>
          <p:cNvPr id="11" name="Rounded Rectangle 10"/>
          <p:cNvSpPr/>
          <p:nvPr/>
        </p:nvSpPr>
        <p:spPr>
          <a:xfrm>
            <a:off x="6126480" y="1554480"/>
            <a:ext cx="2377440" cy="1097280"/>
          </a:xfrm>
          <a:prstGeom prst="roundRect">
            <a:avLst/>
          </a:prstGeom>
          <a:solidFill>
            <a:srgbClr val="F1F5F9"/>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554480"/>
            <a:ext cx="2377440" cy="1097280"/>
          </a:xfrm>
          <a:prstGeom prst="rect">
            <a:avLst/>
          </a:prstGeom>
          <a:noFill/>
        </p:spPr>
        <p:txBody>
          <a:bodyPr wrap="square" anchor="ctr">
            <a:spAutoFit/>
          </a:bodyPr>
          <a:lstStyle/>
          <a:p>
            <a:pPr algn="ctr">
              <a:spcAft>
                <a:spcPts val="800"/>
              </a:spcAft>
            </a:pPr>
            <a:r>
              <a:rPr sz="1600" b="1">
                <a:solidFill>
                  <a:srgbClr val="0B163A"/>
                </a:solidFill>
                <a:latin typeface="Segoe UI"/>
              </a:rPr>
              <a:t>FastAPI</a:t>
            </a:r>
          </a:p>
          <a:p>
            <a:pPr algn="ctr">
              <a:spcAft>
                <a:spcPts val="800"/>
              </a:spcAft>
            </a:pPr>
            <a:r>
              <a:rPr sz="1600" b="1">
                <a:solidFill>
                  <a:srgbClr val="0B163A"/>
                </a:solidFill>
                <a:latin typeface="Segoe UI"/>
              </a:rPr>
              <a:t>Python</a:t>
            </a:r>
          </a:p>
        </p:txBody>
      </p:sp>
      <p:sp>
        <p:nvSpPr>
          <p:cNvPr id="13" name="Rounded Rectangle 12"/>
          <p:cNvSpPr/>
          <p:nvPr/>
        </p:nvSpPr>
        <p:spPr>
          <a:xfrm>
            <a:off x="8961120" y="1554480"/>
            <a:ext cx="2743200" cy="1097280"/>
          </a:xfrm>
          <a:prstGeom prst="roundRect">
            <a:avLst/>
          </a:prstGeom>
          <a:solidFill>
            <a:srgbClr val="0B1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1554480"/>
            <a:ext cx="2743200" cy="1097280"/>
          </a:xfrm>
          <a:prstGeom prst="rect">
            <a:avLst/>
          </a:prstGeom>
          <a:noFill/>
        </p:spPr>
        <p:txBody>
          <a:bodyPr wrap="square" anchor="ctr">
            <a:spAutoFit/>
          </a:bodyPr>
          <a:lstStyle/>
          <a:p>
            <a:pPr algn="ctr">
              <a:spcAft>
                <a:spcPts val="800"/>
              </a:spcAft>
            </a:pPr>
            <a:r>
              <a:rPr sz="1600" b="1">
                <a:solidFill>
                  <a:srgbClr val="FFFFFF"/>
                </a:solidFill>
                <a:latin typeface="Segoe UI"/>
              </a:rPr>
              <a:t>Research gate</a:t>
            </a:r>
          </a:p>
          <a:p>
            <a:pPr algn="ctr">
              <a:spcAft>
                <a:spcPts val="800"/>
              </a:spcAft>
            </a:pPr>
            <a:r>
              <a:rPr sz="1600" b="1">
                <a:solidFill>
                  <a:srgbClr val="FFFFFF"/>
                </a:solidFill>
                <a:latin typeface="Segoe UI"/>
              </a:rPr>
              <a:t>hash-bound provenance</a:t>
            </a:r>
          </a:p>
        </p:txBody>
      </p:sp>
      <p:sp>
        <p:nvSpPr>
          <p:cNvPr id="15" name="Rounded Rectangle 14"/>
          <p:cNvSpPr/>
          <p:nvPr/>
        </p:nvSpPr>
        <p:spPr>
          <a:xfrm>
            <a:off x="640080" y="3291840"/>
            <a:ext cx="5394960" cy="219456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37560"/>
            <a:ext cx="5029200" cy="2103120"/>
          </a:xfrm>
          <a:prstGeom prst="rect">
            <a:avLst/>
          </a:prstGeom>
          <a:noFill/>
        </p:spPr>
        <p:txBody>
          <a:bodyPr wrap="square" anchor="t">
            <a:spAutoFit/>
          </a:bodyPr>
          <a:lstStyle/>
          <a:p>
            <a:pPr algn="l">
              <a:spcAft>
                <a:spcPts val="800"/>
              </a:spcAft>
            </a:pPr>
            <a:r>
              <a:rPr sz="1700" b="0">
                <a:solidFill>
                  <a:srgbClr val="0B163A"/>
                </a:solidFill>
                <a:latin typeface="Segoe UI"/>
              </a:rPr>
              <a:t>LIVE MONITOR</a:t>
            </a:r>
          </a:p>
          <a:p>
            <a:pPr algn="l">
              <a:spcAft>
                <a:spcPts val="800"/>
              </a:spcAft>
            </a:pPr>
            <a:r>
              <a:rPr sz="1700" b="0">
                <a:solidFill>
                  <a:srgbClr val="0B163A"/>
                </a:solidFill>
                <a:latin typeface="Segoe UI"/>
              </a:rPr>
              <a:t>SQI, PI, estimated SpO₂ → rule engine</a:t>
            </a:r>
          </a:p>
          <a:p>
            <a:pPr algn="l">
              <a:spcAft>
                <a:spcPts val="800"/>
              </a:spcAft>
            </a:pPr>
            <a:r>
              <a:rPr sz="1700" b="0">
                <a:solidFill>
                  <a:srgbClr val="0B163A"/>
                </a:solidFill>
                <a:latin typeface="Segoe UI"/>
              </a:rPr>
              <a:t>→ GREEN / AMBER / RED / ABSTAIN</a:t>
            </a:r>
          </a:p>
          <a:p>
            <a:pPr algn="l">
              <a:spcAft>
                <a:spcPts val="800"/>
              </a:spcAft>
            </a:pPr>
            <a:r>
              <a:rPr sz="1700" b="0">
                <a:solidFill>
                  <a:srgbClr val="0B163A"/>
                </a:solidFill>
                <a:latin typeface="Segoe UI"/>
              </a:rPr>
              <a:t>(no calibrated interval)</a:t>
            </a:r>
          </a:p>
        </p:txBody>
      </p:sp>
      <p:sp>
        <p:nvSpPr>
          <p:cNvPr id="17" name="Rounded Rectangle 16"/>
          <p:cNvSpPr/>
          <p:nvPr/>
        </p:nvSpPr>
        <p:spPr>
          <a:xfrm>
            <a:off x="6309360" y="3291840"/>
            <a:ext cx="5394960" cy="2194560"/>
          </a:xfrm>
          <a:prstGeom prst="roundRect">
            <a:avLst/>
          </a:prstGeom>
          <a:solidFill>
            <a:srgbClr val="EEF2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337560"/>
            <a:ext cx="5029200" cy="2103120"/>
          </a:xfrm>
          <a:prstGeom prst="rect">
            <a:avLst/>
          </a:prstGeom>
          <a:noFill/>
        </p:spPr>
        <p:txBody>
          <a:bodyPr wrap="square" anchor="t">
            <a:spAutoFit/>
          </a:bodyPr>
          <a:lstStyle/>
          <a:p>
            <a:pPr algn="l">
              <a:spcAft>
                <a:spcPts val="800"/>
              </a:spcAft>
            </a:pPr>
            <a:r>
              <a:rPr sz="1700" b="0">
                <a:solidFill>
                  <a:srgbClr val="0B163A"/>
                </a:solidFill>
                <a:latin typeface="Segoe UI"/>
              </a:rPr>
              <a:t>RELIABILITY CHECK</a:t>
            </a:r>
          </a:p>
          <a:p>
            <a:pPr algn="l">
              <a:spcAft>
                <a:spcPts val="800"/>
              </a:spcAft>
            </a:pPr>
            <a:r>
              <a:rPr sz="1700" b="0">
                <a:solidFill>
                  <a:srgbClr val="0B163A"/>
                </a:solidFill>
                <a:latin typeface="Segoe UI"/>
              </a:rPr>
              <a:t>Ridge / LightGBM → CQR → Mondrian (ITA × PI)</a:t>
            </a:r>
          </a:p>
          <a:p>
            <a:pPr algn="l">
              <a:spcAft>
                <a:spcPts val="800"/>
              </a:spcAft>
            </a:pPr>
            <a:r>
              <a:rPr sz="1700" b="0">
                <a:solidFill>
                  <a:srgbClr val="0B163A"/>
                </a:solidFill>
                <a:latin typeface="Segoe UI"/>
              </a:rPr>
              <a:t>→ prediction interval + state</a:t>
            </a:r>
          </a:p>
          <a:p>
            <a:pPr algn="l">
              <a:spcAft>
                <a:spcPts val="800"/>
              </a:spcAft>
            </a:pPr>
            <a:r>
              <a:rPr sz="1700" b="0">
                <a:solidFill>
                  <a:srgbClr val="0B163A"/>
                </a:solidFill>
                <a:latin typeface="Segoe UI"/>
              </a:rPr>
              <a:t>(abstains if group data is insufficient)</a:t>
            </a:r>
          </a:p>
        </p:txBody>
      </p:sp>
      <p:sp>
        <p:nvSpPr>
          <p:cNvPr id="19" name="TextBox 18"/>
          <p:cNvSpPr txBox="1"/>
          <p:nvPr/>
        </p:nvSpPr>
        <p:spPr>
          <a:xfrm>
            <a:off x="640080" y="5760720"/>
            <a:ext cx="10972800" cy="457200"/>
          </a:xfrm>
          <a:prstGeom prst="rect">
            <a:avLst/>
          </a:prstGeom>
          <a:noFill/>
        </p:spPr>
        <p:txBody>
          <a:bodyPr wrap="square" anchor="t">
            <a:spAutoFit/>
          </a:bodyPr>
          <a:lstStyle/>
          <a:p>
            <a:pPr algn="l">
              <a:spcAft>
                <a:spcPts val="800"/>
              </a:spcAft>
            </a:pPr>
            <a:r>
              <a:rPr sz="1600" b="0">
                <a:solidFill>
                  <a:srgbClr val="64748B"/>
                </a:solidFill>
                <a:latin typeface="Segoe UI"/>
              </a:rPr>
              <a:t>Python · FastAPI · scikit-learn · LightGBM · React · TypeScript · Web Serial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515600" cy="731520"/>
          </a:xfrm>
          <a:prstGeom prst="rect">
            <a:avLst/>
          </a:prstGeom>
          <a:noFill/>
        </p:spPr>
        <p:txBody>
          <a:bodyPr wrap="square" anchor="t">
            <a:spAutoFit/>
          </a:bodyPr>
          <a:lstStyle/>
          <a:p>
            <a:pPr algn="l">
              <a:spcAft>
                <a:spcPts val="800"/>
              </a:spcAft>
            </a:pPr>
            <a:r>
              <a:rPr sz="3400" b="1">
                <a:solidFill>
                  <a:srgbClr val="0B163A"/>
                </a:solidFill>
                <a:latin typeface="Segoe UI"/>
              </a:rPr>
              <a:t>Prototype Demonstration</a:t>
            </a:r>
          </a:p>
        </p:txBody>
      </p:sp>
      <p:sp>
        <p:nvSpPr>
          <p:cNvPr id="4" name="TextBox 3"/>
          <p:cNvSpPr txBox="1"/>
          <p:nvPr/>
        </p:nvSpPr>
        <p:spPr>
          <a:xfrm>
            <a:off x="640080" y="6400800"/>
            <a:ext cx="10972800" cy="365760"/>
          </a:xfrm>
          <a:prstGeom prst="rect">
            <a:avLst/>
          </a:prstGeom>
          <a:noFill/>
        </p:spPr>
        <p:txBody>
          <a:bodyPr wrap="square" anchor="t">
            <a:spAutoFit/>
          </a:bodyPr>
          <a:lstStyle/>
          <a:p>
            <a:pPr algn="l">
              <a:spcAft>
                <a:spcPts val="800"/>
              </a:spcAft>
            </a:pPr>
            <a:r>
              <a:rPr sz="1100" b="0">
                <a:solidFill>
                  <a:srgbClr val="64748B"/>
                </a:solidFill>
                <a:latin typeface="Segoe UI"/>
              </a:rPr>
              <a:t>Not a diagnostic device. Not clinically validated.  ·  Data shown is synthetic / simulated.</a:t>
            </a:r>
          </a:p>
        </p:txBody>
      </p:sp>
      <p:sp>
        <p:nvSpPr>
          <p:cNvPr id="5" name="Rounded Rectangle 4"/>
          <p:cNvSpPr/>
          <p:nvPr/>
        </p:nvSpPr>
        <p:spPr>
          <a:xfrm>
            <a:off x="640080" y="1280160"/>
            <a:ext cx="10881360" cy="64008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10881360" cy="640080"/>
          </a:xfrm>
          <a:prstGeom prst="rect">
            <a:avLst/>
          </a:prstGeom>
          <a:noFill/>
        </p:spPr>
        <p:txBody>
          <a:bodyPr wrap="square" anchor="ctr">
            <a:spAutoFit/>
          </a:bodyPr>
          <a:lstStyle/>
          <a:p>
            <a:pPr algn="ctr">
              <a:spcAft>
                <a:spcPts val="800"/>
              </a:spcAft>
            </a:pPr>
            <a:r>
              <a:rPr sz="2200" b="1">
                <a:solidFill>
                  <a:srgbClr val="78350F"/>
                </a:solidFill>
                <a:latin typeface="Segoe UI"/>
              </a:rPr>
              <a:t>VIRTUAL HARDWARE SIMULATION — NOT REAL MEASUREMENTS</a:t>
            </a:r>
          </a:p>
        </p:txBody>
      </p:sp>
      <p:sp>
        <p:nvSpPr>
          <p:cNvPr id="7" name="Rectangle 6"/>
          <p:cNvSpPr/>
          <p:nvPr/>
        </p:nvSpPr>
        <p:spPr>
          <a:xfrm>
            <a:off x="822960" y="2194560"/>
            <a:ext cx="228600"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194560"/>
            <a:ext cx="5852160" cy="548640"/>
          </a:xfrm>
          <a:prstGeom prst="rect">
            <a:avLst/>
          </a:prstGeom>
          <a:noFill/>
        </p:spPr>
        <p:txBody>
          <a:bodyPr wrap="square" anchor="ctr">
            <a:spAutoFit/>
          </a:bodyPr>
          <a:lstStyle/>
          <a:p>
            <a:pPr algn="l">
              <a:spcAft>
                <a:spcPts val="800"/>
              </a:spcAft>
            </a:pPr>
            <a:r>
              <a:rPr sz="2100" b="1">
                <a:solidFill>
                  <a:srgbClr val="0B163A"/>
                </a:solidFill>
                <a:latin typeface="Segoe UI"/>
              </a:rPr>
              <a:t>A  Normal signal</a:t>
            </a:r>
          </a:p>
        </p:txBody>
      </p:sp>
      <p:sp>
        <p:nvSpPr>
          <p:cNvPr id="9" name="TextBox 8"/>
          <p:cNvSpPr txBox="1"/>
          <p:nvPr/>
        </p:nvSpPr>
        <p:spPr>
          <a:xfrm>
            <a:off x="7040880" y="2194560"/>
            <a:ext cx="4754880" cy="548640"/>
          </a:xfrm>
          <a:prstGeom prst="rect">
            <a:avLst/>
          </a:prstGeom>
          <a:noFill/>
        </p:spPr>
        <p:txBody>
          <a:bodyPr wrap="square" anchor="ctr">
            <a:spAutoFit/>
          </a:bodyPr>
          <a:lstStyle/>
          <a:p>
            <a:pPr algn="l">
              <a:spcAft>
                <a:spcPts val="800"/>
              </a:spcAft>
            </a:pPr>
            <a:r>
              <a:rPr sz="2000" b="0">
                <a:solidFill>
                  <a:srgbClr val="475569"/>
                </a:solidFill>
                <a:latin typeface="Segoe UI"/>
              </a:rPr>
              <a:t>GREEN</a:t>
            </a:r>
          </a:p>
        </p:txBody>
      </p:sp>
      <p:sp>
        <p:nvSpPr>
          <p:cNvPr id="10" name="Rectangle 9"/>
          <p:cNvSpPr/>
          <p:nvPr/>
        </p:nvSpPr>
        <p:spPr>
          <a:xfrm>
            <a:off x="822960" y="2971800"/>
            <a:ext cx="228600" cy="5486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2971800"/>
            <a:ext cx="5852160" cy="548640"/>
          </a:xfrm>
          <a:prstGeom prst="rect">
            <a:avLst/>
          </a:prstGeom>
          <a:noFill/>
        </p:spPr>
        <p:txBody>
          <a:bodyPr wrap="square" anchor="ctr">
            <a:spAutoFit/>
          </a:bodyPr>
          <a:lstStyle/>
          <a:p>
            <a:pPr algn="l">
              <a:spcAft>
                <a:spcPts val="800"/>
              </a:spcAft>
            </a:pPr>
            <a:r>
              <a:rPr sz="2100" b="1">
                <a:solidFill>
                  <a:srgbClr val="0B163A"/>
                </a:solidFill>
                <a:latin typeface="Segoe UI"/>
              </a:rPr>
              <a:t>B  Low perfusion</a:t>
            </a:r>
          </a:p>
        </p:txBody>
      </p:sp>
      <p:sp>
        <p:nvSpPr>
          <p:cNvPr id="12" name="TextBox 11"/>
          <p:cNvSpPr txBox="1"/>
          <p:nvPr/>
        </p:nvSpPr>
        <p:spPr>
          <a:xfrm>
            <a:off x="7040880" y="2971800"/>
            <a:ext cx="4754880" cy="548640"/>
          </a:xfrm>
          <a:prstGeom prst="rect">
            <a:avLst/>
          </a:prstGeom>
          <a:noFill/>
        </p:spPr>
        <p:txBody>
          <a:bodyPr wrap="square" anchor="ctr">
            <a:spAutoFit/>
          </a:bodyPr>
          <a:lstStyle/>
          <a:p>
            <a:pPr algn="l">
              <a:spcAft>
                <a:spcPts val="800"/>
              </a:spcAft>
            </a:pPr>
            <a:r>
              <a:rPr sz="2000" b="0">
                <a:solidFill>
                  <a:srgbClr val="475569"/>
                </a:solidFill>
                <a:latin typeface="Segoe UI"/>
              </a:rPr>
              <a:t>AMBER  (screenshot)</a:t>
            </a:r>
          </a:p>
        </p:txBody>
      </p:sp>
      <p:sp>
        <p:nvSpPr>
          <p:cNvPr id="13" name="Rectangle 12"/>
          <p:cNvSpPr/>
          <p:nvPr/>
        </p:nvSpPr>
        <p:spPr>
          <a:xfrm>
            <a:off x="822960" y="3749039"/>
            <a:ext cx="228600" cy="5486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749039"/>
            <a:ext cx="5852160" cy="548640"/>
          </a:xfrm>
          <a:prstGeom prst="rect">
            <a:avLst/>
          </a:prstGeom>
          <a:noFill/>
        </p:spPr>
        <p:txBody>
          <a:bodyPr wrap="square" anchor="ctr">
            <a:spAutoFit/>
          </a:bodyPr>
          <a:lstStyle/>
          <a:p>
            <a:pPr algn="l">
              <a:spcAft>
                <a:spcPts val="800"/>
              </a:spcAft>
            </a:pPr>
            <a:r>
              <a:rPr sz="2100" b="1">
                <a:solidFill>
                  <a:srgbClr val="0B163A"/>
                </a:solidFill>
                <a:latin typeface="Segoe UI"/>
              </a:rPr>
              <a:t>C  High motion / combined</a:t>
            </a:r>
          </a:p>
        </p:txBody>
      </p:sp>
      <p:sp>
        <p:nvSpPr>
          <p:cNvPr id="15" name="TextBox 14"/>
          <p:cNvSpPr txBox="1"/>
          <p:nvPr/>
        </p:nvSpPr>
        <p:spPr>
          <a:xfrm>
            <a:off x="7040880" y="3749039"/>
            <a:ext cx="4754880" cy="548640"/>
          </a:xfrm>
          <a:prstGeom prst="rect">
            <a:avLst/>
          </a:prstGeom>
          <a:noFill/>
        </p:spPr>
        <p:txBody>
          <a:bodyPr wrap="square" anchor="ctr">
            <a:spAutoFit/>
          </a:bodyPr>
          <a:lstStyle/>
          <a:p>
            <a:pPr algn="l">
              <a:spcAft>
                <a:spcPts val="800"/>
              </a:spcAft>
            </a:pPr>
            <a:r>
              <a:rPr sz="2000" b="0">
                <a:solidFill>
                  <a:srgbClr val="475569"/>
                </a:solidFill>
                <a:latin typeface="Segoe UI"/>
              </a:rPr>
              <a:t>ABSTAIN  (screenshot)</a:t>
            </a:r>
          </a:p>
        </p:txBody>
      </p:sp>
      <p:sp>
        <p:nvSpPr>
          <p:cNvPr id="16" name="Rectangle 15"/>
          <p:cNvSpPr/>
          <p:nvPr/>
        </p:nvSpPr>
        <p:spPr>
          <a:xfrm>
            <a:off x="822960" y="4526279"/>
            <a:ext cx="228600" cy="5486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526279"/>
            <a:ext cx="5852160" cy="548640"/>
          </a:xfrm>
          <a:prstGeom prst="rect">
            <a:avLst/>
          </a:prstGeom>
          <a:noFill/>
        </p:spPr>
        <p:txBody>
          <a:bodyPr wrap="square" anchor="ctr">
            <a:spAutoFit/>
          </a:bodyPr>
          <a:lstStyle/>
          <a:p>
            <a:pPr algn="l">
              <a:spcAft>
                <a:spcPts val="800"/>
              </a:spcAft>
            </a:pPr>
            <a:r>
              <a:rPr sz="2100" b="1">
                <a:solidFill>
                  <a:srgbClr val="0B163A"/>
                </a:solidFill>
                <a:latin typeface="Segoe UI"/>
              </a:rPr>
              <a:t>D  Low perfusion + intermediate noise</a:t>
            </a:r>
          </a:p>
        </p:txBody>
      </p:sp>
      <p:sp>
        <p:nvSpPr>
          <p:cNvPr id="18" name="TextBox 17"/>
          <p:cNvSpPr txBox="1"/>
          <p:nvPr/>
        </p:nvSpPr>
        <p:spPr>
          <a:xfrm>
            <a:off x="7040880" y="4526279"/>
            <a:ext cx="4754880" cy="548640"/>
          </a:xfrm>
          <a:prstGeom prst="rect">
            <a:avLst/>
          </a:prstGeom>
          <a:noFill/>
        </p:spPr>
        <p:txBody>
          <a:bodyPr wrap="square" anchor="ctr">
            <a:spAutoFit/>
          </a:bodyPr>
          <a:lstStyle/>
          <a:p>
            <a:pPr algn="l">
              <a:spcAft>
                <a:spcPts val="800"/>
              </a:spcAft>
            </a:pPr>
            <a:r>
              <a:rPr sz="2000" b="0">
                <a:solidFill>
                  <a:srgbClr val="475569"/>
                </a:solidFill>
                <a:latin typeface="Segoe UI"/>
              </a:rPr>
              <a:t>RED  (may fluctuate)</a:t>
            </a:r>
          </a:p>
        </p:txBody>
      </p:sp>
      <p:sp>
        <p:nvSpPr>
          <p:cNvPr id="19" name="Rectangle 18"/>
          <p:cNvSpPr/>
          <p:nvPr/>
        </p:nvSpPr>
        <p:spPr>
          <a:xfrm>
            <a:off x="822960" y="5303520"/>
            <a:ext cx="228600" cy="5486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303520"/>
            <a:ext cx="5852160" cy="548640"/>
          </a:xfrm>
          <a:prstGeom prst="rect">
            <a:avLst/>
          </a:prstGeom>
          <a:noFill/>
        </p:spPr>
        <p:txBody>
          <a:bodyPr wrap="square" anchor="ctr">
            <a:spAutoFit/>
          </a:bodyPr>
          <a:lstStyle/>
          <a:p>
            <a:pPr algn="l">
              <a:spcAft>
                <a:spcPts val="800"/>
              </a:spcAft>
            </a:pPr>
            <a:r>
              <a:rPr sz="2100" b="1">
                <a:solidFill>
                  <a:srgbClr val="0B163A"/>
                </a:solidFill>
                <a:latin typeface="Segoe UI"/>
              </a:rPr>
              <a:t>E  Dark × Normal PI, calibrated layer</a:t>
            </a:r>
          </a:p>
        </p:txBody>
      </p:sp>
      <p:sp>
        <p:nvSpPr>
          <p:cNvPr id="21" name="TextBox 20"/>
          <p:cNvSpPr txBox="1"/>
          <p:nvPr/>
        </p:nvSpPr>
        <p:spPr>
          <a:xfrm>
            <a:off x="7040880" y="5303520"/>
            <a:ext cx="4754880" cy="548640"/>
          </a:xfrm>
          <a:prstGeom prst="rect">
            <a:avLst/>
          </a:prstGeom>
          <a:noFill/>
        </p:spPr>
        <p:txBody>
          <a:bodyPr wrap="square" anchor="ctr">
            <a:spAutoFit/>
          </a:bodyPr>
          <a:lstStyle/>
          <a:p>
            <a:pPr algn="l">
              <a:spcAft>
                <a:spcPts val="800"/>
              </a:spcAft>
            </a:pPr>
            <a:r>
              <a:rPr sz="2000" b="0">
                <a:solidFill>
                  <a:srgbClr val="475569"/>
                </a:solidFill>
                <a:latin typeface="Segoe UI"/>
              </a:rPr>
              <a:t>ABSTAIN — insufficient calibration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515600" cy="731520"/>
          </a:xfrm>
          <a:prstGeom prst="rect">
            <a:avLst/>
          </a:prstGeom>
          <a:noFill/>
        </p:spPr>
        <p:txBody>
          <a:bodyPr wrap="square" anchor="t">
            <a:spAutoFit/>
          </a:bodyPr>
          <a:lstStyle/>
          <a:p>
            <a:pPr algn="l">
              <a:spcAft>
                <a:spcPts val="800"/>
              </a:spcAft>
            </a:pPr>
            <a:r>
              <a:rPr sz="3400" b="1">
                <a:solidFill>
                  <a:srgbClr val="0B163A"/>
                </a:solidFill>
                <a:latin typeface="Segoe UI"/>
              </a:rPr>
              <a:t>Results, Validation Status and Limitations</a:t>
            </a:r>
          </a:p>
        </p:txBody>
      </p:sp>
      <p:sp>
        <p:nvSpPr>
          <p:cNvPr id="4" name="TextBox 3"/>
          <p:cNvSpPr txBox="1"/>
          <p:nvPr/>
        </p:nvSpPr>
        <p:spPr>
          <a:xfrm>
            <a:off x="640080" y="1005840"/>
            <a:ext cx="10515600" cy="457200"/>
          </a:xfrm>
          <a:prstGeom prst="rect">
            <a:avLst/>
          </a:prstGeom>
          <a:noFill/>
        </p:spPr>
        <p:txBody>
          <a:bodyPr wrap="square" anchor="t">
            <a:spAutoFit/>
          </a:bodyPr>
          <a:lstStyle/>
          <a:p>
            <a:pPr algn="l">
              <a:spcAft>
                <a:spcPts val="800"/>
              </a:spcAft>
            </a:pPr>
            <a:r>
              <a:rPr sz="1600" b="0">
                <a:solidFill>
                  <a:srgbClr val="64748B"/>
                </a:solidFill>
                <a:latin typeface="Segoe UI"/>
              </a:rPr>
              <a:t>Honest status: implemented and tested in software; research validation pending</a:t>
            </a:r>
          </a:p>
        </p:txBody>
      </p:sp>
      <p:sp>
        <p:nvSpPr>
          <p:cNvPr id="5" name="TextBox 4"/>
          <p:cNvSpPr txBox="1"/>
          <p:nvPr/>
        </p:nvSpPr>
        <p:spPr>
          <a:xfrm>
            <a:off x="640080" y="6400800"/>
            <a:ext cx="10972800" cy="365760"/>
          </a:xfrm>
          <a:prstGeom prst="rect">
            <a:avLst/>
          </a:prstGeom>
          <a:noFill/>
        </p:spPr>
        <p:txBody>
          <a:bodyPr wrap="square" anchor="t">
            <a:spAutoFit/>
          </a:bodyPr>
          <a:lstStyle/>
          <a:p>
            <a:pPr algn="l">
              <a:spcAft>
                <a:spcPts val="800"/>
              </a:spcAft>
            </a:pPr>
            <a:r>
              <a:rPr sz="1100" b="0">
                <a:solidFill>
                  <a:srgbClr val="64748B"/>
                </a:solidFill>
                <a:latin typeface="Segoe UI"/>
              </a:rPr>
              <a:t>Not a diagnostic device. Not clinically validated.  ·  Data shown is synthetic / simulated.</a:t>
            </a:r>
          </a:p>
        </p:txBody>
      </p:sp>
      <p:sp>
        <p:nvSpPr>
          <p:cNvPr id="6" name="Rectangle 5"/>
          <p:cNvSpPr/>
          <p:nvPr/>
        </p:nvSpPr>
        <p:spPr>
          <a:xfrm>
            <a:off x="822960" y="1737360"/>
            <a:ext cx="201168" cy="3657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645920"/>
            <a:ext cx="4206240" cy="548640"/>
          </a:xfrm>
          <a:prstGeom prst="rect">
            <a:avLst/>
          </a:prstGeom>
          <a:noFill/>
        </p:spPr>
        <p:txBody>
          <a:bodyPr wrap="square" anchor="ctr">
            <a:spAutoFit/>
          </a:bodyPr>
          <a:lstStyle/>
          <a:p>
            <a:pPr algn="l">
              <a:spcAft>
                <a:spcPts val="800"/>
              </a:spcAft>
            </a:pPr>
            <a:r>
              <a:rPr sz="2000" b="1">
                <a:solidFill>
                  <a:srgbClr val="0B163A"/>
                </a:solidFill>
                <a:latin typeface="Segoe UI"/>
              </a:rPr>
              <a:t>Software tests</a:t>
            </a:r>
          </a:p>
        </p:txBody>
      </p:sp>
      <p:sp>
        <p:nvSpPr>
          <p:cNvPr id="8" name="TextBox 7"/>
          <p:cNvSpPr txBox="1"/>
          <p:nvPr/>
        </p:nvSpPr>
        <p:spPr>
          <a:xfrm>
            <a:off x="5486400" y="1645920"/>
            <a:ext cx="6400800" cy="548640"/>
          </a:xfrm>
          <a:prstGeom prst="rect">
            <a:avLst/>
          </a:prstGeom>
          <a:noFill/>
        </p:spPr>
        <p:txBody>
          <a:bodyPr wrap="square" anchor="ctr">
            <a:spAutoFit/>
          </a:bodyPr>
          <a:lstStyle/>
          <a:p>
            <a:pPr algn="l">
              <a:spcAft>
                <a:spcPts val="800"/>
              </a:spcAft>
            </a:pPr>
            <a:r>
              <a:rPr sz="1900" b="0">
                <a:solidFill>
                  <a:srgbClr val="475569"/>
                </a:solidFill>
                <a:latin typeface="Segoe UI"/>
              </a:rPr>
              <a:t>520 backend + 108 frontend passed</a:t>
            </a:r>
          </a:p>
        </p:txBody>
      </p:sp>
      <p:sp>
        <p:nvSpPr>
          <p:cNvPr id="9" name="Rectangle 8"/>
          <p:cNvSpPr/>
          <p:nvPr/>
        </p:nvSpPr>
        <p:spPr>
          <a:xfrm>
            <a:off x="822960" y="2286000"/>
            <a:ext cx="201168" cy="3657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194560"/>
            <a:ext cx="4206240" cy="548640"/>
          </a:xfrm>
          <a:prstGeom prst="rect">
            <a:avLst/>
          </a:prstGeom>
          <a:noFill/>
        </p:spPr>
        <p:txBody>
          <a:bodyPr wrap="square" anchor="ctr">
            <a:spAutoFit/>
          </a:bodyPr>
          <a:lstStyle/>
          <a:p>
            <a:pPr algn="l">
              <a:spcAft>
                <a:spcPts val="800"/>
              </a:spcAft>
            </a:pPr>
            <a:r>
              <a:rPr sz="2000" b="1">
                <a:solidFill>
                  <a:srgbClr val="0B163A"/>
                </a:solidFill>
                <a:latin typeface="Segoe UI"/>
              </a:rPr>
              <a:t>Synthetic pipeline</a:t>
            </a:r>
          </a:p>
        </p:txBody>
      </p:sp>
      <p:sp>
        <p:nvSpPr>
          <p:cNvPr id="11" name="TextBox 10"/>
          <p:cNvSpPr txBox="1"/>
          <p:nvPr/>
        </p:nvSpPr>
        <p:spPr>
          <a:xfrm>
            <a:off x="5486400" y="2194560"/>
            <a:ext cx="6400800" cy="548640"/>
          </a:xfrm>
          <a:prstGeom prst="rect">
            <a:avLst/>
          </a:prstGeom>
          <a:noFill/>
        </p:spPr>
        <p:txBody>
          <a:bodyPr wrap="square" anchor="ctr">
            <a:spAutoFit/>
          </a:bodyPr>
          <a:lstStyle/>
          <a:p>
            <a:pPr algn="l">
              <a:spcAft>
                <a:spcPts val="800"/>
              </a:spcAft>
            </a:pPr>
            <a:r>
              <a:rPr sz="1900" b="0">
                <a:solidFill>
                  <a:srgbClr val="475569"/>
                </a:solidFill>
                <a:latin typeface="Segoe UI"/>
              </a:rPr>
              <a:t>tested (180 virtual participants, invented rule)</a:t>
            </a:r>
          </a:p>
        </p:txBody>
      </p:sp>
      <p:sp>
        <p:nvSpPr>
          <p:cNvPr id="12" name="Rectangle 11"/>
          <p:cNvSpPr/>
          <p:nvPr/>
        </p:nvSpPr>
        <p:spPr>
          <a:xfrm>
            <a:off x="822960" y="2834640"/>
            <a:ext cx="201168" cy="3657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2743200"/>
            <a:ext cx="4206240" cy="548640"/>
          </a:xfrm>
          <a:prstGeom prst="rect">
            <a:avLst/>
          </a:prstGeom>
          <a:noFill/>
        </p:spPr>
        <p:txBody>
          <a:bodyPr wrap="square" anchor="ctr">
            <a:spAutoFit/>
          </a:bodyPr>
          <a:lstStyle/>
          <a:p>
            <a:pPr algn="l">
              <a:spcAft>
                <a:spcPts val="800"/>
              </a:spcAft>
            </a:pPr>
            <a:r>
              <a:rPr sz="2000" b="1">
                <a:solidFill>
                  <a:srgbClr val="0B163A"/>
                </a:solidFill>
                <a:latin typeface="Segoe UI"/>
              </a:rPr>
              <a:t>Virtual hardware</a:t>
            </a:r>
          </a:p>
        </p:txBody>
      </p:sp>
      <p:sp>
        <p:nvSpPr>
          <p:cNvPr id="14" name="TextBox 13"/>
          <p:cNvSpPr txBox="1"/>
          <p:nvPr/>
        </p:nvSpPr>
        <p:spPr>
          <a:xfrm>
            <a:off x="5486400" y="2743200"/>
            <a:ext cx="6400800" cy="548640"/>
          </a:xfrm>
          <a:prstGeom prst="rect">
            <a:avLst/>
          </a:prstGeom>
          <a:noFill/>
        </p:spPr>
        <p:txBody>
          <a:bodyPr wrap="square" anchor="ctr">
            <a:spAutoFit/>
          </a:bodyPr>
          <a:lstStyle/>
          <a:p>
            <a:pPr algn="l">
              <a:spcAft>
                <a:spcPts val="800"/>
              </a:spcAft>
            </a:pPr>
            <a:r>
              <a:rPr sz="1900" b="0">
                <a:solidFill>
                  <a:srgbClr val="475569"/>
                </a:solidFill>
                <a:latin typeface="Segoe UI"/>
              </a:rPr>
              <a:t>tested for software integration</a:t>
            </a:r>
          </a:p>
        </p:txBody>
      </p:sp>
      <p:sp>
        <p:nvSpPr>
          <p:cNvPr id="15" name="Rectangle 14"/>
          <p:cNvSpPr/>
          <p:nvPr/>
        </p:nvSpPr>
        <p:spPr>
          <a:xfrm>
            <a:off x="822960" y="3383279"/>
            <a:ext cx="201168"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3291839"/>
            <a:ext cx="4206240" cy="548640"/>
          </a:xfrm>
          <a:prstGeom prst="rect">
            <a:avLst/>
          </a:prstGeom>
          <a:noFill/>
        </p:spPr>
        <p:txBody>
          <a:bodyPr wrap="square" anchor="ctr">
            <a:spAutoFit/>
          </a:bodyPr>
          <a:lstStyle/>
          <a:p>
            <a:pPr algn="l">
              <a:spcAft>
                <a:spcPts val="800"/>
              </a:spcAft>
            </a:pPr>
            <a:r>
              <a:rPr sz="2000" b="1">
                <a:solidFill>
                  <a:srgbClr val="0B163A"/>
                </a:solidFill>
                <a:latin typeface="Segoe UI"/>
              </a:rPr>
              <a:t>CQR / Mondrian</a:t>
            </a:r>
          </a:p>
        </p:txBody>
      </p:sp>
      <p:sp>
        <p:nvSpPr>
          <p:cNvPr id="17" name="TextBox 16"/>
          <p:cNvSpPr txBox="1"/>
          <p:nvPr/>
        </p:nvSpPr>
        <p:spPr>
          <a:xfrm>
            <a:off x="5486400" y="3291839"/>
            <a:ext cx="6400800" cy="548640"/>
          </a:xfrm>
          <a:prstGeom prst="rect">
            <a:avLst/>
          </a:prstGeom>
          <a:noFill/>
        </p:spPr>
        <p:txBody>
          <a:bodyPr wrap="square" anchor="ctr">
            <a:spAutoFit/>
          </a:bodyPr>
          <a:lstStyle/>
          <a:p>
            <a:pPr algn="l">
              <a:spcAft>
                <a:spcPts val="800"/>
              </a:spcAft>
            </a:pPr>
            <a:r>
              <a:rPr sz="1900" b="0">
                <a:solidFill>
                  <a:srgbClr val="475569"/>
                </a:solidFill>
                <a:latin typeface="Segoe UI"/>
              </a:rPr>
              <a:t>implemented — real empirical validation pending</a:t>
            </a:r>
          </a:p>
        </p:txBody>
      </p:sp>
      <p:sp>
        <p:nvSpPr>
          <p:cNvPr id="18" name="Rectangle 17"/>
          <p:cNvSpPr/>
          <p:nvPr/>
        </p:nvSpPr>
        <p:spPr>
          <a:xfrm>
            <a:off x="822960" y="3931920"/>
            <a:ext cx="201168" cy="3657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3840480"/>
            <a:ext cx="4206240" cy="548640"/>
          </a:xfrm>
          <a:prstGeom prst="rect">
            <a:avLst/>
          </a:prstGeom>
          <a:noFill/>
        </p:spPr>
        <p:txBody>
          <a:bodyPr wrap="square" anchor="ctr">
            <a:spAutoFit/>
          </a:bodyPr>
          <a:lstStyle/>
          <a:p>
            <a:pPr algn="l">
              <a:spcAft>
                <a:spcPts val="800"/>
              </a:spcAft>
            </a:pPr>
            <a:r>
              <a:rPr sz="2000" b="1">
                <a:solidFill>
                  <a:srgbClr val="0B163A"/>
                </a:solidFill>
                <a:latin typeface="Segoe UI"/>
              </a:rPr>
              <a:t>Real research data</a:t>
            </a:r>
          </a:p>
        </p:txBody>
      </p:sp>
      <p:sp>
        <p:nvSpPr>
          <p:cNvPr id="20" name="TextBox 19"/>
          <p:cNvSpPr txBox="1"/>
          <p:nvPr/>
        </p:nvSpPr>
        <p:spPr>
          <a:xfrm>
            <a:off x="5486400" y="3840480"/>
            <a:ext cx="6400800" cy="548640"/>
          </a:xfrm>
          <a:prstGeom prst="rect">
            <a:avLst/>
          </a:prstGeom>
          <a:noFill/>
        </p:spPr>
        <p:txBody>
          <a:bodyPr wrap="square" anchor="ctr">
            <a:spAutoFit/>
          </a:bodyPr>
          <a:lstStyle/>
          <a:p>
            <a:pPr algn="l">
              <a:spcAft>
                <a:spcPts val="800"/>
              </a:spcAft>
            </a:pPr>
            <a:r>
              <a:rPr sz="1900" b="0">
                <a:solidFill>
                  <a:srgbClr val="475569"/>
                </a:solidFill>
                <a:latin typeface="Segoe UI"/>
              </a:rPr>
              <a:t>0</a:t>
            </a:r>
          </a:p>
        </p:txBody>
      </p:sp>
      <p:sp>
        <p:nvSpPr>
          <p:cNvPr id="21" name="Rectangle 20"/>
          <p:cNvSpPr/>
          <p:nvPr/>
        </p:nvSpPr>
        <p:spPr>
          <a:xfrm>
            <a:off x="822960" y="4480559"/>
            <a:ext cx="201168" cy="3657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389120"/>
            <a:ext cx="4206240" cy="548640"/>
          </a:xfrm>
          <a:prstGeom prst="rect">
            <a:avLst/>
          </a:prstGeom>
          <a:noFill/>
        </p:spPr>
        <p:txBody>
          <a:bodyPr wrap="square" anchor="ctr">
            <a:spAutoFit/>
          </a:bodyPr>
          <a:lstStyle/>
          <a:p>
            <a:pPr algn="l">
              <a:spcAft>
                <a:spcPts val="800"/>
              </a:spcAft>
            </a:pPr>
            <a:r>
              <a:rPr sz="2000" b="1">
                <a:solidFill>
                  <a:srgbClr val="0B163A"/>
                </a:solidFill>
                <a:latin typeface="Segoe UI"/>
              </a:rPr>
              <a:t>Real research validation</a:t>
            </a:r>
          </a:p>
        </p:txBody>
      </p:sp>
      <p:sp>
        <p:nvSpPr>
          <p:cNvPr id="23" name="TextBox 22"/>
          <p:cNvSpPr txBox="1"/>
          <p:nvPr/>
        </p:nvSpPr>
        <p:spPr>
          <a:xfrm>
            <a:off x="5486400" y="4389120"/>
            <a:ext cx="6400800" cy="548640"/>
          </a:xfrm>
          <a:prstGeom prst="rect">
            <a:avLst/>
          </a:prstGeom>
          <a:noFill/>
        </p:spPr>
        <p:txBody>
          <a:bodyPr wrap="square" anchor="ctr">
            <a:spAutoFit/>
          </a:bodyPr>
          <a:lstStyle/>
          <a:p>
            <a:pPr algn="l">
              <a:spcAft>
                <a:spcPts val="800"/>
              </a:spcAft>
            </a:pPr>
            <a:r>
              <a:rPr sz="1900" b="0">
                <a:solidFill>
                  <a:srgbClr val="475569"/>
                </a:solidFill>
                <a:latin typeface="Segoe UI"/>
              </a:rPr>
              <a:t>NOT AVAILABLE</a:t>
            </a:r>
          </a:p>
        </p:txBody>
      </p:sp>
      <p:sp>
        <p:nvSpPr>
          <p:cNvPr id="24" name="Rectangle 23"/>
          <p:cNvSpPr/>
          <p:nvPr/>
        </p:nvSpPr>
        <p:spPr>
          <a:xfrm>
            <a:off x="822960" y="5029199"/>
            <a:ext cx="201168" cy="3657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4937759"/>
            <a:ext cx="4206240" cy="548640"/>
          </a:xfrm>
          <a:prstGeom prst="rect">
            <a:avLst/>
          </a:prstGeom>
          <a:noFill/>
        </p:spPr>
        <p:txBody>
          <a:bodyPr wrap="square" anchor="ctr">
            <a:spAutoFit/>
          </a:bodyPr>
          <a:lstStyle/>
          <a:p>
            <a:pPr algn="l">
              <a:spcAft>
                <a:spcPts val="800"/>
              </a:spcAft>
            </a:pPr>
            <a:r>
              <a:rPr sz="2000" b="1">
                <a:solidFill>
                  <a:srgbClr val="0B163A"/>
                </a:solidFill>
                <a:latin typeface="Segoe UI"/>
              </a:rPr>
              <a:t>Physical hardware / Wokwi</a:t>
            </a:r>
          </a:p>
        </p:txBody>
      </p:sp>
      <p:sp>
        <p:nvSpPr>
          <p:cNvPr id="26" name="TextBox 25"/>
          <p:cNvSpPr txBox="1"/>
          <p:nvPr/>
        </p:nvSpPr>
        <p:spPr>
          <a:xfrm>
            <a:off x="5486400" y="4937759"/>
            <a:ext cx="6400800" cy="548640"/>
          </a:xfrm>
          <a:prstGeom prst="rect">
            <a:avLst/>
          </a:prstGeom>
          <a:noFill/>
        </p:spPr>
        <p:txBody>
          <a:bodyPr wrap="square" anchor="ctr">
            <a:spAutoFit/>
          </a:bodyPr>
          <a:lstStyle/>
          <a:p>
            <a:pPr algn="l">
              <a:spcAft>
                <a:spcPts val="800"/>
              </a:spcAft>
            </a:pPr>
            <a:r>
              <a:rPr sz="1900" b="0">
                <a:solidFill>
                  <a:srgbClr val="475569"/>
                </a:solidFill>
                <a:latin typeface="Segoe UI"/>
              </a:rPr>
              <a:t>NOT TESTED / NOT EXECUTED</a:t>
            </a:r>
          </a:p>
        </p:txBody>
      </p:sp>
      <p:sp>
        <p:nvSpPr>
          <p:cNvPr id="27" name="Rectangle 26"/>
          <p:cNvSpPr/>
          <p:nvPr/>
        </p:nvSpPr>
        <p:spPr>
          <a:xfrm>
            <a:off x="822960" y="5577840"/>
            <a:ext cx="201168" cy="3657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8720" y="5486400"/>
            <a:ext cx="4206240" cy="548640"/>
          </a:xfrm>
          <a:prstGeom prst="rect">
            <a:avLst/>
          </a:prstGeom>
          <a:noFill/>
        </p:spPr>
        <p:txBody>
          <a:bodyPr wrap="square" anchor="ctr">
            <a:spAutoFit/>
          </a:bodyPr>
          <a:lstStyle/>
          <a:p>
            <a:pPr algn="l">
              <a:spcAft>
                <a:spcPts val="800"/>
              </a:spcAft>
            </a:pPr>
            <a:r>
              <a:rPr sz="2000" b="1">
                <a:solidFill>
                  <a:srgbClr val="0B163A"/>
                </a:solidFill>
                <a:latin typeface="Segoe UI"/>
              </a:rPr>
              <a:t>Clinical validation</a:t>
            </a:r>
          </a:p>
        </p:txBody>
      </p:sp>
      <p:sp>
        <p:nvSpPr>
          <p:cNvPr id="29" name="TextBox 28"/>
          <p:cNvSpPr txBox="1"/>
          <p:nvPr/>
        </p:nvSpPr>
        <p:spPr>
          <a:xfrm>
            <a:off x="5486400" y="5486400"/>
            <a:ext cx="6400800" cy="548640"/>
          </a:xfrm>
          <a:prstGeom prst="rect">
            <a:avLst/>
          </a:prstGeom>
          <a:noFill/>
        </p:spPr>
        <p:txBody>
          <a:bodyPr wrap="square" anchor="ctr">
            <a:spAutoFit/>
          </a:bodyPr>
          <a:lstStyle/>
          <a:p>
            <a:pPr algn="l">
              <a:spcAft>
                <a:spcPts val="800"/>
              </a:spcAft>
            </a:pPr>
            <a:r>
              <a:rPr sz="1900" b="0">
                <a:solidFill>
                  <a:srgbClr val="475569"/>
                </a:solidFill>
                <a:latin typeface="Segoe UI"/>
              </a:rPr>
              <a:t>NOT AVAILABLE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515600" cy="731520"/>
          </a:xfrm>
          <a:prstGeom prst="rect">
            <a:avLst/>
          </a:prstGeom>
          <a:noFill/>
        </p:spPr>
        <p:txBody>
          <a:bodyPr wrap="square" anchor="t">
            <a:spAutoFit/>
          </a:bodyPr>
          <a:lstStyle/>
          <a:p>
            <a:pPr algn="l">
              <a:spcAft>
                <a:spcPts val="800"/>
              </a:spcAft>
            </a:pPr>
            <a:r>
              <a:rPr sz="3400" b="1">
                <a:solidFill>
                  <a:srgbClr val="0B163A"/>
                </a:solidFill>
                <a:latin typeface="Segoe UI"/>
              </a:rPr>
              <a:t>Conclusion and Future Scope</a:t>
            </a:r>
          </a:p>
        </p:txBody>
      </p:sp>
      <p:sp>
        <p:nvSpPr>
          <p:cNvPr id="4" name="TextBox 3"/>
          <p:cNvSpPr txBox="1"/>
          <p:nvPr/>
        </p:nvSpPr>
        <p:spPr>
          <a:xfrm>
            <a:off x="640080" y="6400800"/>
            <a:ext cx="10972800" cy="365760"/>
          </a:xfrm>
          <a:prstGeom prst="rect">
            <a:avLst/>
          </a:prstGeom>
          <a:noFill/>
        </p:spPr>
        <p:txBody>
          <a:bodyPr wrap="square" anchor="t">
            <a:spAutoFit/>
          </a:bodyPr>
          <a:lstStyle/>
          <a:p>
            <a:pPr algn="l">
              <a:spcAft>
                <a:spcPts val="800"/>
              </a:spcAft>
            </a:pPr>
            <a:r>
              <a:rPr sz="1100" b="0">
                <a:solidFill>
                  <a:srgbClr val="64748B"/>
                </a:solidFill>
                <a:latin typeface="Segoe UI"/>
              </a:rPr>
              <a:t>Not a diagnostic device. Not clinically validated.  ·  Data shown is synthetic / simulated.</a:t>
            </a:r>
          </a:p>
        </p:txBody>
      </p:sp>
      <p:sp>
        <p:nvSpPr>
          <p:cNvPr id="5" name="Rounded Rectangle 4"/>
          <p:cNvSpPr/>
          <p:nvPr/>
        </p:nvSpPr>
        <p:spPr>
          <a:xfrm>
            <a:off x="731520" y="1371600"/>
            <a:ext cx="5303520" cy="420624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937760" cy="548640"/>
          </a:xfrm>
          <a:prstGeom prst="rect">
            <a:avLst/>
          </a:prstGeom>
          <a:noFill/>
        </p:spPr>
        <p:txBody>
          <a:bodyPr wrap="square" anchor="t">
            <a:spAutoFit/>
          </a:bodyPr>
          <a:lstStyle/>
          <a:p>
            <a:pPr algn="l">
              <a:spcAft>
                <a:spcPts val="800"/>
              </a:spcAft>
            </a:pPr>
            <a:r>
              <a:rPr sz="2600" b="1">
                <a:solidFill>
                  <a:srgbClr val="10B981"/>
                </a:solidFill>
                <a:latin typeface="Segoe UI"/>
              </a:rPr>
              <a:t>Built</a:t>
            </a:r>
          </a:p>
        </p:txBody>
      </p:sp>
      <p:sp>
        <p:nvSpPr>
          <p:cNvPr id="7" name="TextBox 6"/>
          <p:cNvSpPr txBox="1"/>
          <p:nvPr/>
        </p:nvSpPr>
        <p:spPr>
          <a:xfrm>
            <a:off x="914400" y="2103120"/>
            <a:ext cx="4937760" cy="3383280"/>
          </a:xfrm>
          <a:prstGeom prst="rect">
            <a:avLst/>
          </a:prstGeom>
          <a:noFill/>
        </p:spPr>
        <p:txBody>
          <a:bodyPr wrap="square" anchor="t">
            <a:spAutoFit/>
          </a:bodyPr>
          <a:lstStyle/>
          <a:p>
            <a:pPr algn="l">
              <a:spcAft>
                <a:spcPts val="800"/>
              </a:spcAft>
            </a:pPr>
            <a:r>
              <a:rPr sz="1900" b="0">
                <a:solidFill>
                  <a:srgbClr val="475569"/>
                </a:solidFill>
                <a:latin typeface="Segoe UI"/>
              </a:rPr>
              <a:t>Tested reliability framework</a:t>
            </a:r>
          </a:p>
          <a:p>
            <a:pPr algn="l">
              <a:spcAft>
                <a:spcPts val="800"/>
              </a:spcAft>
            </a:pPr>
            <a:r>
              <a:rPr sz="1900" b="0">
                <a:solidFill>
                  <a:srgbClr val="475569"/>
                </a:solidFill>
                <a:latin typeface="Segoe UI"/>
              </a:rPr>
              <a:t>Signal quality + perfusion + ITA</a:t>
            </a:r>
          </a:p>
          <a:p>
            <a:pPr algn="l">
              <a:spcAft>
                <a:spcPts val="800"/>
              </a:spcAft>
            </a:pPr>
            <a:r>
              <a:rPr sz="1900" b="0">
                <a:solidFill>
                  <a:srgbClr val="475569"/>
                </a:solidFill>
                <a:latin typeface="Segoe UI"/>
              </a:rPr>
              <a:t>Calibrated intervals per group</a:t>
            </a:r>
          </a:p>
          <a:p>
            <a:pPr algn="l">
              <a:spcAft>
                <a:spcPts val="800"/>
              </a:spcAft>
            </a:pPr>
            <a:r>
              <a:rPr sz="1900" b="0">
                <a:solidFill>
                  <a:srgbClr val="475569"/>
                </a:solidFill>
                <a:latin typeface="Segoe UI"/>
              </a:rPr>
              <a:t>Abstains instead of guessing</a:t>
            </a:r>
          </a:p>
          <a:p>
            <a:pPr algn="l">
              <a:spcAft>
                <a:spcPts val="800"/>
              </a:spcAft>
            </a:pPr>
            <a:r>
              <a:rPr sz="1900" b="0">
                <a:solidFill>
                  <a:srgbClr val="475569"/>
                </a:solidFill>
                <a:latin typeface="Segoe UI"/>
              </a:rPr>
              <a:t>Research gate for provenance</a:t>
            </a:r>
          </a:p>
        </p:txBody>
      </p:sp>
      <p:sp>
        <p:nvSpPr>
          <p:cNvPr id="8" name="Rounded Rectangle 7"/>
          <p:cNvSpPr/>
          <p:nvPr/>
        </p:nvSpPr>
        <p:spPr>
          <a:xfrm>
            <a:off x="6309360" y="1371600"/>
            <a:ext cx="5303520" cy="4206240"/>
          </a:xfrm>
          <a:prstGeom prst="roundRect">
            <a:avLst/>
          </a:prstGeom>
          <a:solidFill>
            <a:srgbClr val="EEF2FF"/>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40"/>
            <a:ext cx="4937760" cy="548640"/>
          </a:xfrm>
          <a:prstGeom prst="rect">
            <a:avLst/>
          </a:prstGeom>
          <a:noFill/>
        </p:spPr>
        <p:txBody>
          <a:bodyPr wrap="square" anchor="t">
            <a:spAutoFit/>
          </a:bodyPr>
          <a:lstStyle/>
          <a:p>
            <a:pPr algn="l">
              <a:spcAft>
                <a:spcPts val="800"/>
              </a:spcAft>
            </a:pPr>
            <a:r>
              <a:rPr sz="2600" b="1">
                <a:solidFill>
                  <a:srgbClr val="4F46E5"/>
                </a:solidFill>
                <a:latin typeface="Segoe UI"/>
              </a:rPr>
              <a:t>Next</a:t>
            </a:r>
          </a:p>
        </p:txBody>
      </p:sp>
      <p:sp>
        <p:nvSpPr>
          <p:cNvPr id="10" name="TextBox 9"/>
          <p:cNvSpPr txBox="1"/>
          <p:nvPr/>
        </p:nvSpPr>
        <p:spPr>
          <a:xfrm>
            <a:off x="6492240" y="2103120"/>
            <a:ext cx="4937760" cy="3383280"/>
          </a:xfrm>
          <a:prstGeom prst="rect">
            <a:avLst/>
          </a:prstGeom>
          <a:noFill/>
        </p:spPr>
        <p:txBody>
          <a:bodyPr wrap="square" anchor="t">
            <a:spAutoFit/>
          </a:bodyPr>
          <a:lstStyle/>
          <a:p>
            <a:pPr algn="l">
              <a:spcAft>
                <a:spcPts val="800"/>
              </a:spcAft>
            </a:pPr>
            <a:r>
              <a:rPr sz="1900" b="0">
                <a:solidFill>
                  <a:srgbClr val="475569"/>
                </a:solidFill>
                <a:latin typeface="Segoe UI"/>
              </a:rPr>
              <a:t>Ethics approval and permissions</a:t>
            </a:r>
          </a:p>
          <a:p>
            <a:pPr algn="l">
              <a:spcAft>
                <a:spcPts val="800"/>
              </a:spcAft>
            </a:pPr>
            <a:r>
              <a:rPr sz="1900" b="0">
                <a:solidFill>
                  <a:srgbClr val="475569"/>
                </a:solidFill>
                <a:latin typeface="Segoe UI"/>
              </a:rPr>
              <a:t>Paired reference SaO₂ + colour data</a:t>
            </a:r>
          </a:p>
          <a:p>
            <a:pPr algn="l">
              <a:spcAft>
                <a:spcPts val="800"/>
              </a:spcAft>
            </a:pPr>
            <a:r>
              <a:rPr sz="1900" b="0">
                <a:solidFill>
                  <a:srgbClr val="475569"/>
                </a:solidFill>
                <a:latin typeface="Segoe UI"/>
              </a:rPr>
              <a:t>Participant-level validation</a:t>
            </a:r>
          </a:p>
          <a:p>
            <a:pPr algn="l">
              <a:spcAft>
                <a:spcPts val="800"/>
              </a:spcAft>
            </a:pPr>
            <a:r>
              <a:rPr sz="1900" b="0">
                <a:solidFill>
                  <a:srgbClr val="475569"/>
                </a:solidFill>
                <a:latin typeface="Segoe UI"/>
              </a:rPr>
              <a:t>Subgroup coverage and width</a:t>
            </a:r>
          </a:p>
          <a:p>
            <a:pPr algn="l">
              <a:spcAft>
                <a:spcPts val="800"/>
              </a:spcAft>
            </a:pPr>
            <a:r>
              <a:rPr sz="1900" b="0">
                <a:solidFill>
                  <a:srgbClr val="475569"/>
                </a:solidFill>
                <a:latin typeface="Segoe UI"/>
              </a:rPr>
              <a:t>Physical hardware test</a:t>
            </a:r>
          </a:p>
        </p:txBody>
      </p:sp>
      <p:sp>
        <p:nvSpPr>
          <p:cNvPr id="11" name="TextBox 10"/>
          <p:cNvSpPr txBox="1"/>
          <p:nvPr/>
        </p:nvSpPr>
        <p:spPr>
          <a:xfrm>
            <a:off x="731520" y="5715000"/>
            <a:ext cx="10972800" cy="548640"/>
          </a:xfrm>
          <a:prstGeom prst="rect">
            <a:avLst/>
          </a:prstGeom>
          <a:noFill/>
        </p:spPr>
        <p:txBody>
          <a:bodyPr wrap="square" anchor="t">
            <a:spAutoFit/>
          </a:bodyPr>
          <a:lstStyle/>
          <a:p>
            <a:pPr algn="ctr">
              <a:spcAft>
                <a:spcPts val="800"/>
              </a:spcAft>
            </a:pPr>
            <a:r>
              <a:rPr sz="2200" b="1">
                <a:solidFill>
                  <a:srgbClr val="0B163A"/>
                </a:solidFill>
                <a:latin typeface="Segoe UI"/>
              </a:rPr>
              <a:t>Can you trust this number? Now the system can tell you when you should not.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